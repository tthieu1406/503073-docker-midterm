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1.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1548658-123d-924b-0dde-4b40bca39baf}">
          <p14:sldIdLst>
            <p14:sldId id="256"/>
            <p14:sldId id="257"/>
            <p14:sldId id="258"/>
          </p14:sldIdLst>
        </p14:section>
        <p14:section name="Theory" id="{3443d8b2-b503-ff8a-fcfe-60102a6fbb34}">
          <p14:sldIdLst>
            <p14:sldId id="259"/>
            <p14:sldId id="260"/>
            <p14:sldId id="261"/>
            <p14:sldId id="262"/>
            <p14:sldId id="263"/>
            <p14:sldId id="264"/>
            <p14:sldId id="265"/>
            <p14:sldId id="266"/>
          </p14:sldIdLst>
        </p14:section>
        <p14:section name="Comparison" id="{bd80e8e6-4981-8d90-b9c7-efb14bddd7c8}">
          <p14:sldIdLst>
            <p14:sldId id="267"/>
            <p14:sldId id="268"/>
          </p14:sldIdLst>
        </p14:section>
        <p14:section name="DockMart" id="{0ee04ee2-1939-0ba1-5178-4e48d08034a4}">
          <p14:sldIdLst>
            <p14:sldId id="269"/>
            <p14:sldId id="270"/>
            <p14:sldId id="271"/>
            <p14:sldId id="272"/>
            <p14:sldId id="273"/>
          </p14:sldIdLst>
        </p14:section>
        <p14:section name="Results" id="{003afea2-fbe0-8a51-4a30-b1e83b6d411c}">
          <p14:sldIdLst>
            <p14:sldId id="274"/>
            <p14:sldId id="275"/>
            <p14:sldId id="276"/>
            <p14:sldId id="277"/>
            <p14:sldId id="278"/>
          </p14:sldIdLst>
        </p14:section>
        <p14:section name="Conclusion" id="{8afb76ec-c936-e2be-4407-fc3b31954549}">
          <p14:sldIdLst>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Disk use (MB)</c:v>
                </c:pt>
              </c:strCache>
            </c:strRef>
          </c:tx>
          <c:spPr>
            <a:solidFill>
              <a:srgbClr val="2A78D6"/>
            </a:solidFill>
            <a:effectLst/>
          </c:spPr>
          <c:invertIfNegative val="0"/>
          <c:dLbls>
            <c:numFmt formatCode="#,##0" sourceLinked="0"/>
            <c:txPr>
              <a:bodyPr/>
              <a:lstStyle/>
              <a:p>
                <a:pPr>
                  <a:defRPr b="0" i="0" strike="noStrike" sz="1100" u="none">
                    <a:solidFill>
                      <a:srgbClr val="46596A"/>
                    </a:solidFill>
                    <a:latin typeface="+mn-lt"/>
                  </a:defRPr>
                </a:pPr>
              </a:p>
            </c:txPr>
            <c:showLegendKey val="0"/>
            <c:showVal val="1"/>
            <c:showCatName val="0"/>
            <c:showSerName val="0"/>
            <c:showPercent val="0"/>
            <c:showBubbleSize val="0"/>
            <c:showLeaderLines val="0"/>
          </c:dLbls>
          <c:cat>
            <c:multiLvlStrRef>
              <c:f>Sheet1!$A$2:$A$5</c:f>
              <c:multiLvlStrCache>
                <c:ptCount val="4"/>
                <c:lvl>
                  <c:pt idx="0">
                    <c:v>Naive</c:v>
                  </c:pt>
                  <c:pt idx="1">
                    <c:v>Slim</c:v>
                  </c:pt>
                  <c:pt idx="2">
                    <c:v>Distroless</c:v>
                  </c:pt>
                  <c:pt idx="3">
                    <c:v>Ours (multi-stage)</c:v>
                  </c:pt>
                </c:lvl>
              </c:multiLvlStrCache>
            </c:multiLvlStrRef>
          </c:cat>
          <c:val>
            <c:numRef>
              <c:f>Sheet1!$B$2:$B$5</c:f>
              <c:numCache>
                <c:formatCode>General</c:formatCode>
                <c:ptCount val="4"/>
                <c:pt idx="0">
                  <c:v>1717.7</c:v>
                </c:pt>
                <c:pt idx="1">
                  <c:v>393.1</c:v>
                </c:pt>
                <c:pt idx="2">
                  <c:v>259.3</c:v>
                </c:pt>
                <c:pt idx="3">
                  <c:v>288.1</c:v>
                </c:pt>
              </c:numCache>
            </c:numRef>
          </c:val>
        </c:ser>
        <c:ser>
          <c:idx val="1"/>
          <c:order val="1"/>
          <c:tx>
            <c:strRef>
              <c:f>Sheet1!$C$1</c:f>
              <c:strCache>
                <c:ptCount val="1"/>
                <c:pt idx="0">
                  <c:v>Download size (MB)</c:v>
                </c:pt>
              </c:strCache>
            </c:strRef>
          </c:tx>
          <c:spPr>
            <a:solidFill>
              <a:srgbClr val="EB6834"/>
            </a:solidFill>
            <a:effectLst/>
          </c:spPr>
          <c:invertIfNegative val="0"/>
          <c:dLbls>
            <c:numFmt formatCode="#,##0" sourceLinked="0"/>
            <c:txPr>
              <a:bodyPr/>
              <a:lstStyle/>
              <a:p>
                <a:pPr>
                  <a:defRPr b="0" i="0" strike="noStrike" sz="1100" u="none">
                    <a:solidFill>
                      <a:srgbClr val="46596A"/>
                    </a:solidFill>
                    <a:latin typeface="+mn-lt"/>
                  </a:defRPr>
                </a:pPr>
              </a:p>
            </c:txPr>
            <c:showLegendKey val="0"/>
            <c:showVal val="1"/>
            <c:showCatName val="0"/>
            <c:showSerName val="0"/>
            <c:showPercent val="0"/>
            <c:showBubbleSize val="0"/>
            <c:showLeaderLines val="0"/>
          </c:dLbls>
          <c:cat>
            <c:multiLvlStrRef>
              <c:f>Sheet1!$A$2:$A$5</c:f>
              <c:multiLvlStrCache>
                <c:ptCount val="4"/>
                <c:lvl>
                  <c:pt idx="0">
                    <c:v>Naive</c:v>
                  </c:pt>
                  <c:pt idx="1">
                    <c:v>Slim</c:v>
                  </c:pt>
                  <c:pt idx="2">
                    <c:v>Distroless</c:v>
                  </c:pt>
                  <c:pt idx="3">
                    <c:v>Ours (multi-stage)</c:v>
                  </c:pt>
                </c:lvl>
              </c:multiLvlStrCache>
            </c:multiLvlStrRef>
          </c:cat>
          <c:val>
            <c:numRef>
              <c:f>Sheet1!$C$2:$C$5</c:f>
              <c:numCache>
                <c:formatCode>General</c:formatCode>
                <c:ptCount val="4"/>
                <c:pt idx="0">
                  <c:v>428</c:v>
                </c:pt>
                <c:pt idx="1">
                  <c:v>94</c:v>
                </c:pt>
                <c:pt idx="2">
                  <c:v>62</c:v>
                </c:pt>
                <c:pt idx="3">
                  <c:v>68</c:v>
                </c:pt>
              </c:numCache>
            </c:numRef>
          </c:val>
        </c:ser>
        <c:dLbls>
          <c:numFmt formatCode="#,##0" sourceLinked="0"/>
          <c:txPr>
            <a:bodyPr/>
            <a:lstStyle/>
            <a:p>
              <a:pPr>
                <a:defRPr b="0" i="0" strike="noStrike" sz="1100" u="none">
                  <a:solidFill>
                    <a:srgbClr val="46596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6596A"/>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46596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46596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46596A"/>
                </a:solidFill>
                <a:latin typeface="+mn-lt"/>
              </a:defRPr>
            </a:pPr>
            <a:r>
              <a:rPr sz="1400" b="0" i="0" u="none" strike="noStrike">
                <a:solidFill>
                  <a:srgbClr val="46596A"/>
                </a:solidFill>
                <a:latin typeface="+mn-lt"/>
              </a:rPr>
              <a:t>Requests per second</a:t>
            </a:r>
          </a:p>
        </c:rich>
      </c:tx>
      <c:layout/>
      <c:overlay val="0"/>
    </c:title>
    <c:autoTitleDeleted val="0"/>
    <c:plotArea>
      <c:layout/>
      <c:lineChart>
        <c:varyColors val="0"/>
        <c:ser>
          <c:idx val="0"/>
          <c:order val="0"/>
          <c:tx>
            <c:strRef>
              <c:f>Sheet1!$B$1</c:f>
              <c:strCache>
                <c:ptCount val="1"/>
                <c:pt idx="0">
                  <c:v>Measured</c:v>
                </c:pt>
              </c:strCache>
            </c:strRef>
          </c:tx>
          <c:spPr>
            <a:solidFill>
              <a:srgbClr val="2A78D6"/>
            </a:solidFill>
            <a:ln w="2540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7"/>
            <c:spPr>
              <a:solidFill>
                <a:srgbClr val="2A78D6"/>
              </a:solidFill>
              <a:ln w="9525" cap="flat">
                <a:solidFill>
                  <a:srgbClr val="2A78D6"/>
                </a:solidFill>
                <a:prstDash val="solid"/>
                <a:round/>
              </a:ln>
              <a:effectLst/>
            </c:spPr>
          </c:marker>
          <c:cat>
            <c:multiLvlStrRef>
              <c:f>Sheet1!$A$2:$A$7</c:f>
              <c:multiLvlStrCache>
                <c:ptCount val="6"/>
                <c:lvl>
                  <c:pt idx="0">
                    <c:v>1</c:v>
                  </c:pt>
                  <c:pt idx="1">
                    <c:v>2</c:v>
                  </c:pt>
                  <c:pt idx="2">
                    <c:v>3</c:v>
                  </c:pt>
                  <c:pt idx="3">
                    <c:v>4</c:v>
                  </c:pt>
                  <c:pt idx="4">
                    <c:v>5</c:v>
                  </c:pt>
                  <c:pt idx="5">
                    <c:v>6</c:v>
                  </c:pt>
                </c:lvl>
              </c:multiLvlStrCache>
            </c:multiLvlStrRef>
          </c:cat>
          <c:val>
            <c:numRef>
              <c:f>Sheet1!$B$2:$B$7</c:f>
              <c:numCache>
                <c:formatCode>General</c:formatCode>
                <c:ptCount val="6"/>
                <c:pt idx="0">
                  <c:v>107.4</c:v>
                </c:pt>
                <c:pt idx="1">
                  <c:v>204.6</c:v>
                </c:pt>
                <c:pt idx="2">
                  <c:v>296.3</c:v>
                </c:pt>
                <c:pt idx="3">
                  <c:v>367.2</c:v>
                </c:pt>
                <c:pt idx="4">
                  <c:v>451.1</c:v>
                </c:pt>
                <c:pt idx="5">
                  <c:v>510.2</c:v>
                </c:pt>
              </c:numCache>
            </c:numRef>
          </c:val>
          <c:smooth val="0"/>
        </c:ser>
        <c:ser>
          <c:idx val="1"/>
          <c:order val="1"/>
          <c:tx>
            <c:strRef>
              <c:f>Sheet1!$C$1</c:f>
              <c:strCache>
                <c:ptCount val="1"/>
                <c:pt idx="0">
                  <c:v>Perfectly linear</c:v>
                </c:pt>
              </c:strCache>
            </c:strRef>
          </c:tx>
          <c:spPr>
            <a:solidFill>
              <a:srgbClr val="9AA8B2"/>
            </a:solidFill>
            <a:ln w="25400" cap="flat">
              <a:solidFill>
                <a:srgbClr val="9AA8B2"/>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7"/>
            <c:spPr>
              <a:solidFill>
                <a:srgbClr val="9AA8B2"/>
              </a:solidFill>
              <a:ln w="9525" cap="flat">
                <a:solidFill>
                  <a:srgbClr val="9AA8B2"/>
                </a:solidFill>
                <a:prstDash val="solid"/>
                <a:round/>
              </a:ln>
              <a:effectLst/>
            </c:spPr>
          </c:marker>
          <c:cat>
            <c:multiLvlStrRef>
              <c:f>Sheet1!$A$2:$A$7</c:f>
              <c:multiLvlStrCache>
                <c:ptCount val="6"/>
                <c:lvl>
                  <c:pt idx="0">
                    <c:v>1</c:v>
                  </c:pt>
                  <c:pt idx="1">
                    <c:v>2</c:v>
                  </c:pt>
                  <c:pt idx="2">
                    <c:v>3</c:v>
                  </c:pt>
                  <c:pt idx="3">
                    <c:v>4</c:v>
                  </c:pt>
                  <c:pt idx="4">
                    <c:v>5</c:v>
                  </c:pt>
                  <c:pt idx="5">
                    <c:v>6</c:v>
                  </c:pt>
                </c:lvl>
              </c:multiLvlStrCache>
            </c:multiLvlStrRef>
          </c:cat>
          <c:val>
            <c:numRef>
              <c:f>Sheet1!$C$2:$C$7</c:f>
              <c:numCache>
                <c:formatCode>General</c:formatCode>
                <c:ptCount val="6"/>
                <c:pt idx="0">
                  <c:v>107</c:v>
                </c:pt>
                <c:pt idx="1">
                  <c:v>215</c:v>
                </c:pt>
                <c:pt idx="2">
                  <c:v>322</c:v>
                </c:pt>
                <c:pt idx="3">
                  <c:v>430</c:v>
                </c:pt>
                <c:pt idx="4">
                  <c:v>537</c:v>
                </c:pt>
                <c:pt idx="5">
                  <c:v>644</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46596A"/>
                    </a:solidFill>
                    <a:latin typeface="Arial"/>
                  </a:defRPr>
                </a:pPr>
                <a:r>
                  <a:rPr sz="1200" b="0" i="0" u="none" strike="noStrike">
                    <a:solidFill>
                      <a:srgbClr val="46596A"/>
                    </a:solidFill>
                    <a:latin typeface="Arial"/>
                  </a:rPr>
                  <a:t>API replicas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6596A"/>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1E0D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6596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46596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46596A"/>
                </a:solidFill>
                <a:latin typeface="+mn-lt"/>
              </a:defRPr>
            </a:pPr>
            <a:r>
              <a:rPr sz="1400" b="0" i="0" u="none" strike="noStrike">
                <a:solidFill>
                  <a:srgbClr val="46596A"/>
                </a:solidFill>
                <a:latin typeface="+mn-lt"/>
              </a:rPr>
              <a:t>95th percentile latency (ms)</a:t>
            </a:r>
          </a:p>
        </c:rich>
      </c:tx>
      <c:layout/>
      <c:overlay val="0"/>
    </c:title>
    <c:autoTitleDeleted val="0"/>
    <c:plotArea>
      <c:layout/>
      <c:lineChart>
        <c:varyColors val="0"/>
        <c:ser>
          <c:idx val="0"/>
          <c:order val="0"/>
          <c:tx>
            <c:strRef>
              <c:f>Sheet1!$B$1</c:f>
              <c:strCache>
                <c:ptCount val="1"/>
                <c:pt idx="0">
                  <c:v>p95 latency</c:v>
                </c:pt>
              </c:strCache>
            </c:strRef>
          </c:tx>
          <c:spPr>
            <a:solidFill>
              <a:srgbClr val="2A78D6"/>
            </a:solidFill>
            <a:ln w="2540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7"/>
            <c:spPr>
              <a:solidFill>
                <a:srgbClr val="2A78D6"/>
              </a:solidFill>
              <a:ln w="9525" cap="flat">
                <a:solidFill>
                  <a:srgbClr val="2A78D6"/>
                </a:solidFill>
                <a:prstDash val="solid"/>
                <a:round/>
              </a:ln>
              <a:effectLst/>
            </c:spPr>
          </c:marker>
          <c:cat>
            <c:multiLvlStrRef>
              <c:f>Sheet1!$A$2:$A$7</c:f>
              <c:multiLvlStrCache>
                <c:ptCount val="6"/>
                <c:lvl>
                  <c:pt idx="0">
                    <c:v>1</c:v>
                  </c:pt>
                  <c:pt idx="1">
                    <c:v>2</c:v>
                  </c:pt>
                  <c:pt idx="2">
                    <c:v>3</c:v>
                  </c:pt>
                  <c:pt idx="3">
                    <c:v>4</c:v>
                  </c:pt>
                  <c:pt idx="4">
                    <c:v>5</c:v>
                  </c:pt>
                  <c:pt idx="5">
                    <c:v>6</c:v>
                  </c:pt>
                </c:lvl>
              </c:multiLvlStrCache>
            </c:multiLvlStrRef>
          </c:cat>
          <c:val>
            <c:numRef>
              <c:f>Sheet1!$B$2:$B$7</c:f>
              <c:numCache>
                <c:formatCode>General</c:formatCode>
                <c:ptCount val="6"/>
                <c:pt idx="0">
                  <c:v>506.9</c:v>
                </c:pt>
                <c:pt idx="1">
                  <c:v>484.9</c:v>
                </c:pt>
                <c:pt idx="2">
                  <c:v>413.3</c:v>
                </c:pt>
                <c:pt idx="3">
                  <c:v>479.5</c:v>
                </c:pt>
                <c:pt idx="4">
                  <c:v>482.9</c:v>
                </c:pt>
                <c:pt idx="5">
                  <c:v>284.5</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46596A"/>
                    </a:solidFill>
                    <a:latin typeface="Arial"/>
                  </a:defRPr>
                </a:pPr>
                <a:r>
                  <a:rPr sz="1200" b="0" i="0" u="none" strike="noStrike">
                    <a:solidFill>
                      <a:srgbClr val="46596A"/>
                    </a:solidFill>
                    <a:latin typeface="Arial"/>
                  </a:rPr>
                  <a:t>API replicas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6596A"/>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1E0D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6596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46596A"/>
                </a:solidFill>
                <a:latin typeface="+mn-lt"/>
              </a:defRPr>
            </a:pPr>
            <a:r>
              <a:rPr sz="1400" b="0" i="0" u="none" strike="noStrike">
                <a:solidFill>
                  <a:srgbClr val="46596A"/>
                </a:solidFill>
                <a:latin typeface="+mn-lt"/>
              </a:rPr>
              <a:t>Ready Pods during a rolling update</a:t>
            </a:r>
          </a:p>
        </c:rich>
      </c:tx>
      <c:layout/>
      <c:overlay val="0"/>
    </c:title>
    <c:autoTitleDeleted val="0"/>
    <c:plotArea>
      <c:layout/>
      <c:lineChart>
        <c:varyColors val="0"/>
        <c:ser>
          <c:idx val="0"/>
          <c:order val="0"/>
          <c:tx>
            <c:strRef>
              <c:f>Sheet1!$B$1</c:f>
              <c:strCache>
                <c:ptCount val="1"/>
                <c:pt idx="0">
                  <c:v>All ready Pods</c:v>
                </c:pt>
              </c:strCache>
            </c:strRef>
          </c:tx>
          <c:spPr>
            <a:solidFill>
              <a:srgbClr val="1BAF7A"/>
            </a:solidFill>
            <a:ln w="25400" cap="flat">
              <a:solidFill>
                <a:srgbClr val="1BAF7A"/>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1BAF7A"/>
              </a:solidFill>
              <a:ln w="9525" cap="flat">
                <a:solidFill>
                  <a:srgbClr val="1BAF7A"/>
                </a:solidFill>
                <a:prstDash val="solid"/>
                <a:round/>
              </a:ln>
              <a:effectLst/>
            </c:spPr>
          </c:marker>
          <c:cat>
            <c:multiLvlStrRef>
              <c:f>Sheet1!$A$2:$A$11</c:f>
              <c:multiLvlStrCache>
                <c:ptCount val="10"/>
                <c:lvl>
                  <c:pt idx="0">
                    <c:v>1</c:v>
                  </c:pt>
                  <c:pt idx="1">
                    <c:v>3</c:v>
                  </c:pt>
                  <c:pt idx="2">
                    <c:v>4</c:v>
                  </c:pt>
                  <c:pt idx="3">
                    <c:v>6</c:v>
                  </c:pt>
                  <c:pt idx="4">
                    <c:v>7</c:v>
                  </c:pt>
                  <c:pt idx="5">
                    <c:v>8</c:v>
                  </c:pt>
                  <c:pt idx="6">
                    <c:v>10</c:v>
                  </c:pt>
                  <c:pt idx="7">
                    <c:v>11</c:v>
                  </c:pt>
                  <c:pt idx="8">
                    <c:v>13</c:v>
                  </c:pt>
                  <c:pt idx="9">
                    <c:v>14</c:v>
                  </c:pt>
                </c:lvl>
              </c:multiLvlStrCache>
            </c:multiLvlStrRef>
          </c:cat>
          <c:val>
            <c:numRef>
              <c:f>Sheet1!$B$2:$B$11</c:f>
              <c:numCache>
                <c:formatCode>General</c:formatCode>
                <c:ptCount val="10"/>
                <c:pt idx="0">
                  <c:v>3</c:v>
                </c:pt>
                <c:pt idx="1">
                  <c:v>3</c:v>
                </c:pt>
                <c:pt idx="2">
                  <c:v>3</c:v>
                </c:pt>
                <c:pt idx="3">
                  <c:v>3</c:v>
                </c:pt>
                <c:pt idx="4">
                  <c:v>3</c:v>
                </c:pt>
                <c:pt idx="5">
                  <c:v>3</c:v>
                </c:pt>
                <c:pt idx="6">
                  <c:v>3</c:v>
                </c:pt>
                <c:pt idx="7">
                  <c:v>3</c:v>
                </c:pt>
                <c:pt idx="8">
                  <c:v>3</c:v>
                </c:pt>
                <c:pt idx="9">
                  <c:v>3</c:v>
                </c:pt>
              </c:numCache>
            </c:numRef>
          </c:val>
          <c:smooth val="0"/>
        </c:ser>
        <c:ser>
          <c:idx val="1"/>
          <c:order val="1"/>
          <c:tx>
            <c:strRef>
              <c:f>Sheet1!$C$1</c:f>
              <c:strCache>
                <c:ptCount val="1"/>
                <c:pt idx="0">
                  <c:v>Version 1.0.0</c:v>
                </c:pt>
              </c:strCache>
            </c:strRef>
          </c:tx>
          <c:spPr>
            <a:solidFill>
              <a:srgbClr val="2A78D6"/>
            </a:solidFill>
            <a:ln w="2540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2A78D6"/>
              </a:solidFill>
              <a:ln w="9525" cap="flat">
                <a:solidFill>
                  <a:srgbClr val="2A78D6"/>
                </a:solidFill>
                <a:prstDash val="solid"/>
                <a:round/>
              </a:ln>
              <a:effectLst/>
            </c:spPr>
          </c:marker>
          <c:cat>
            <c:multiLvlStrRef>
              <c:f>Sheet1!$A$2:$A$11</c:f>
              <c:multiLvlStrCache>
                <c:ptCount val="10"/>
                <c:lvl>
                  <c:pt idx="0">
                    <c:v>1</c:v>
                  </c:pt>
                  <c:pt idx="1">
                    <c:v>3</c:v>
                  </c:pt>
                  <c:pt idx="2">
                    <c:v>4</c:v>
                  </c:pt>
                  <c:pt idx="3">
                    <c:v>6</c:v>
                  </c:pt>
                  <c:pt idx="4">
                    <c:v>7</c:v>
                  </c:pt>
                  <c:pt idx="5">
                    <c:v>8</c:v>
                  </c:pt>
                  <c:pt idx="6">
                    <c:v>10</c:v>
                  </c:pt>
                  <c:pt idx="7">
                    <c:v>11</c:v>
                  </c:pt>
                  <c:pt idx="8">
                    <c:v>13</c:v>
                  </c:pt>
                  <c:pt idx="9">
                    <c:v>14</c:v>
                  </c:pt>
                </c:lvl>
              </c:multiLvlStrCache>
            </c:multiLvlStrRef>
          </c:cat>
          <c:val>
            <c:numRef>
              <c:f>Sheet1!$C$2:$C$11</c:f>
              <c:numCache>
                <c:formatCode>General</c:formatCode>
                <c:ptCount val="10"/>
                <c:pt idx="0">
                  <c:v>3</c:v>
                </c:pt>
                <c:pt idx="1">
                  <c:v>3</c:v>
                </c:pt>
                <c:pt idx="2">
                  <c:v>3</c:v>
                </c:pt>
                <c:pt idx="3">
                  <c:v>2</c:v>
                </c:pt>
                <c:pt idx="4">
                  <c:v>2</c:v>
                </c:pt>
                <c:pt idx="5">
                  <c:v>2</c:v>
                </c:pt>
                <c:pt idx="6">
                  <c:v>1</c:v>
                </c:pt>
                <c:pt idx="7">
                  <c:v>1</c:v>
                </c:pt>
                <c:pt idx="8">
                  <c:v>1</c:v>
                </c:pt>
                <c:pt idx="9">
                  <c:v>0</c:v>
                </c:pt>
              </c:numCache>
            </c:numRef>
          </c:val>
          <c:smooth val="0"/>
        </c:ser>
        <c:ser>
          <c:idx val="2"/>
          <c:order val="2"/>
          <c:tx>
            <c:strRef>
              <c:f>Sheet1!$D$1</c:f>
              <c:strCache>
                <c:ptCount val="1"/>
                <c:pt idx="0">
                  <c:v>Version 1.1.0</c:v>
                </c:pt>
              </c:strCache>
            </c:strRef>
          </c:tx>
          <c:spPr>
            <a:solidFill>
              <a:srgbClr val="EB6834"/>
            </a:solidFill>
            <a:ln w="25400" cap="flat">
              <a:solidFill>
                <a:srgbClr val="EB6834"/>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EB6834"/>
              </a:solidFill>
              <a:ln w="9525" cap="flat">
                <a:solidFill>
                  <a:srgbClr val="EB6834"/>
                </a:solidFill>
                <a:prstDash val="solid"/>
                <a:round/>
              </a:ln>
              <a:effectLst/>
            </c:spPr>
          </c:marker>
          <c:cat>
            <c:multiLvlStrRef>
              <c:f>Sheet1!$A$2:$A$11</c:f>
              <c:multiLvlStrCache>
                <c:ptCount val="10"/>
                <c:lvl>
                  <c:pt idx="0">
                    <c:v>1</c:v>
                  </c:pt>
                  <c:pt idx="1">
                    <c:v>3</c:v>
                  </c:pt>
                  <c:pt idx="2">
                    <c:v>4</c:v>
                  </c:pt>
                  <c:pt idx="3">
                    <c:v>6</c:v>
                  </c:pt>
                  <c:pt idx="4">
                    <c:v>7</c:v>
                  </c:pt>
                  <c:pt idx="5">
                    <c:v>8</c:v>
                  </c:pt>
                  <c:pt idx="6">
                    <c:v>10</c:v>
                  </c:pt>
                  <c:pt idx="7">
                    <c:v>11</c:v>
                  </c:pt>
                  <c:pt idx="8">
                    <c:v>13</c:v>
                  </c:pt>
                  <c:pt idx="9">
                    <c:v>14</c:v>
                  </c:pt>
                </c:lvl>
              </c:multiLvlStrCache>
            </c:multiLvlStrRef>
          </c:cat>
          <c:val>
            <c:numRef>
              <c:f>Sheet1!$D$2:$D$11</c:f>
              <c:numCache>
                <c:formatCode>General</c:formatCode>
                <c:ptCount val="10"/>
                <c:pt idx="0">
                  <c:v>0</c:v>
                </c:pt>
                <c:pt idx="1">
                  <c:v>0</c:v>
                </c:pt>
                <c:pt idx="2">
                  <c:v>0</c:v>
                </c:pt>
                <c:pt idx="3">
                  <c:v>1</c:v>
                </c:pt>
                <c:pt idx="4">
                  <c:v>1</c:v>
                </c:pt>
                <c:pt idx="5">
                  <c:v>1</c:v>
                </c:pt>
                <c:pt idx="6">
                  <c:v>2</c:v>
                </c:pt>
                <c:pt idx="7">
                  <c:v>2</c:v>
                </c:pt>
                <c:pt idx="8">
                  <c:v>2</c:v>
                </c:pt>
                <c:pt idx="9">
                  <c:v>3</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46596A"/>
                    </a:solidFill>
                    <a:latin typeface="Arial"/>
                  </a:defRPr>
                </a:pPr>
                <a:r>
                  <a:rPr sz="1200" b="0" i="0" u="none" strike="noStrike">
                    <a:solidFill>
                      <a:srgbClr val="46596A"/>
                    </a:solidFill>
                    <a:latin typeface="Arial"/>
                  </a:rPr>
                  <a:t>Seconds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6596A"/>
                </a:solidFill>
                <a:latin typeface="+mn-lt"/>
              </a:defRPr>
            </a:pPr>
            <a:endParaRPr lang="en-US"/>
          </a:p>
        </c:txPr>
        <c:crossAx val="2094734552"/>
        <c:crosses val="autoZero"/>
        <c:auto val="1"/>
        <c:lblAlgn val="ctr"/>
        <c:noMultiLvlLbl val="1"/>
      </c:catAx>
      <c:valAx>
        <c:axId val="2094734552"/>
        <c:scaling>
          <c:orientation val="minMax"/>
          <c:max val="4"/>
          <c:min val="0"/>
        </c:scaling>
        <c:delete val="0"/>
        <c:axPos val="l"/>
        <c:majorGridlines>
          <c:spPr>
            <a:ln w="9525" cap="flat">
              <a:solidFill>
                <a:srgbClr val="E1E0D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6596A"/>
                </a:solidFill>
                <a:latin typeface="+mn-lt"/>
              </a:defRPr>
            </a:pPr>
            <a:endParaRPr lang="en-US"/>
          </a:p>
        </c:txPr>
        <c:crossAx val="2094734554"/>
        <c:crosses val="autoZero"/>
        <c:crossBetween val="between"/>
        <c:majorUnit val="1"/>
      </c:valAx>
      <c:spPr>
        <a:noFill/>
        <a:ln>
          <a:noFill/>
        </a:ln>
        <a:effectLst/>
      </c:spPr>
    </c:plotArea>
    <c:legend>
      <c:legendPos val="b"/>
      <c:overlay val="0"/>
      <c:txPr>
        <a:bodyPr/>
        <a:lstStyle/>
        <a:p>
          <a:pPr>
            <a:defRPr sz="1200">
              <a:solidFill>
                <a:srgbClr val="46596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46596A"/>
                </a:solidFill>
                <a:latin typeface="+mn-lt"/>
              </a:defRPr>
            </a:pPr>
            <a:r>
              <a:rPr sz="1400" b="0" i="0" u="none" strike="noStrike">
                <a:solidFill>
                  <a:srgbClr val="46596A"/>
                </a:solidFill>
                <a:latin typeface="+mn-lt"/>
              </a:rPr>
              <a:t>Replicas chosen by the autoscaler</a:t>
            </a:r>
          </a:p>
        </c:rich>
      </c:tx>
      <c:layout/>
      <c:overlay val="0"/>
    </c:title>
    <c:autoTitleDeleted val="0"/>
    <c:plotArea>
      <c:layout/>
      <c:lineChart>
        <c:varyColors val="0"/>
        <c:ser>
          <c:idx val="0"/>
          <c:order val="0"/>
          <c:tx>
            <c:strRef>
              <c:f>Sheet1!$B$1</c:f>
              <c:strCache>
                <c:ptCount val="1"/>
                <c:pt idx="0">
                  <c:v>Replicas</c:v>
                </c:pt>
              </c:strCache>
            </c:strRef>
          </c:tx>
          <c:spPr>
            <a:solidFill>
              <a:srgbClr val="2A78D6"/>
            </a:solidFill>
            <a:ln w="2540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2A78D6"/>
              </a:solidFill>
              <a:ln w="9525" cap="flat">
                <a:solidFill>
                  <a:srgbClr val="2A78D6"/>
                </a:solidFill>
                <a:prstDash val="solid"/>
                <a:round/>
              </a:ln>
              <a:effectLst/>
            </c:spPr>
          </c:marker>
          <c:cat>
            <c:multiLvlStrRef>
              <c:f>Sheet1!$A$2:$A$18</c:f>
              <c:multiLvlStrCache>
                <c:ptCount val="17"/>
                <c:lvl>
                  <c:pt idx="0">
                    <c:v>0</c:v>
                  </c:pt>
                  <c:pt idx="1">
                    <c:v>16</c:v>
                  </c:pt>
                  <c:pt idx="2">
                    <c:v>33</c:v>
                  </c:pt>
                  <c:pt idx="3">
                    <c:v>49</c:v>
                  </c:pt>
                  <c:pt idx="4">
                    <c:v>65</c:v>
                  </c:pt>
                  <c:pt idx="5">
                    <c:v>84</c:v>
                  </c:pt>
                  <c:pt idx="6">
                    <c:v>100</c:v>
                  </c:pt>
                  <c:pt idx="7">
                    <c:v>116</c:v>
                  </c:pt>
                  <c:pt idx="8">
                    <c:v>132</c:v>
                  </c:pt>
                  <c:pt idx="9">
                    <c:v>148</c:v>
                  </c:pt>
                  <c:pt idx="10">
                    <c:v>164</c:v>
                  </c:pt>
                  <c:pt idx="11">
                    <c:v>179</c:v>
                  </c:pt>
                  <c:pt idx="12">
                    <c:v>195</c:v>
                  </c:pt>
                  <c:pt idx="13">
                    <c:v>211</c:v>
                  </c:pt>
                  <c:pt idx="14">
                    <c:v>226</c:v>
                  </c:pt>
                  <c:pt idx="15">
                    <c:v>242</c:v>
                  </c:pt>
                  <c:pt idx="16">
                    <c:v>257</c:v>
                  </c:pt>
                </c:lvl>
              </c:multiLvlStrCache>
            </c:multiLvlStrRef>
          </c:cat>
          <c:val>
            <c:numRef>
              <c:f>Sheet1!$B$2:$B$18</c:f>
              <c:numCache>
                <c:formatCode>General</c:formatCode>
                <c:ptCount val="17"/>
                <c:pt idx="0">
                  <c:v>3</c:v>
                </c:pt>
                <c:pt idx="1">
                  <c:v>3</c:v>
                </c:pt>
                <c:pt idx="2">
                  <c:v>3</c:v>
                </c:pt>
                <c:pt idx="3">
                  <c:v>6</c:v>
                </c:pt>
                <c:pt idx="4">
                  <c:v>8</c:v>
                </c:pt>
                <c:pt idx="5">
                  <c:v>8</c:v>
                </c:pt>
                <c:pt idx="6">
                  <c:v>8</c:v>
                </c:pt>
                <c:pt idx="7">
                  <c:v>8</c:v>
                </c:pt>
                <c:pt idx="8">
                  <c:v>8</c:v>
                </c:pt>
                <c:pt idx="9">
                  <c:v>8</c:v>
                </c:pt>
                <c:pt idx="10">
                  <c:v>8</c:v>
                </c:pt>
                <c:pt idx="11">
                  <c:v>7</c:v>
                </c:pt>
                <c:pt idx="12">
                  <c:v>3</c:v>
                </c:pt>
                <c:pt idx="13">
                  <c:v>3</c:v>
                </c:pt>
                <c:pt idx="14">
                  <c:v>3</c:v>
                </c:pt>
                <c:pt idx="15">
                  <c:v>3</c:v>
                </c:pt>
                <c:pt idx="16">
                  <c:v>3</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46596A"/>
                    </a:solidFill>
                    <a:latin typeface="Arial"/>
                  </a:defRPr>
                </a:pPr>
                <a:r>
                  <a:rPr sz="1200" b="0" i="0" u="none" strike="noStrike">
                    <a:solidFill>
                      <a:srgbClr val="46596A"/>
                    </a:solidFill>
                    <a:latin typeface="Arial"/>
                  </a:rPr>
                  <a:t>Seconds since the load started</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6596A"/>
                </a:solidFill>
                <a:latin typeface="+mn-lt"/>
              </a:defRPr>
            </a:pPr>
            <a:endParaRPr lang="en-US"/>
          </a:p>
        </c:txPr>
        <c:crossAx val="2094734552"/>
        <c:crosses val="autoZero"/>
        <c:auto val="1"/>
        <c:lblAlgn val="ctr"/>
        <c:noMultiLvlLbl val="1"/>
        <c:tickLblSkip val="3"/>
      </c:catAx>
      <c:valAx>
        <c:axId val="2094734552"/>
        <c:scaling>
          <c:orientation val="minMax"/>
          <c:max val="10"/>
          <c:min val="0"/>
        </c:scaling>
        <c:delete val="0"/>
        <c:axPos val="l"/>
        <c:majorGridlines>
          <c:spPr>
            <a:ln w="9525" cap="flat">
              <a:solidFill>
                <a:srgbClr val="E1E0D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6596A"/>
                </a:solidFill>
                <a:latin typeface="+mn-lt"/>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Hiếu mở đầu: chào thầy và các bạn, giới thiệu hai thành viên và đề tài.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Container đã thành công nghệ phổ biến, không còn là chuyên môn riêng của bộ phận vận hành. Nhóm chọn đề tài này vì có thể chứng minh bằng thí nghiệm thay vì chỉ mô tả.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bày nhanh bốn phần. Nhấn mạnh: mọi nhận định trong bài đều có số đo đi kèm.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Chroot năm 1979, FreeBSD Jails năm 2000, cgroups năm 2008. Docker năm 2013 không tạo ra cơ chế cô lập mới mà mang lại cách đóng gói đơn giản. OCI năm 2015 chuẩn hóa định dạng để không ai độc quyền.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ý quan trọng nhất của phần lý thuyết. Namespace kiểm soát thứ tiến trình nhìn thấy, cgroup giới hạn tài nguyên. Vì dùng chung một nhân nên container nhẹ, nhưng cô lập yếu hơn máy 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Lệnh docker gọi REST API tới dockerd, dockerd giao cho containerd, containerd dùng runc để tạo container. Image theo chuẩn OCI nên chạy được trên containerd của Kubernetes mà không cần Docker.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là chồng lớp chỉ đọc, mỗi container có một lớp ghi riêng. Thứ tự lệnh trong Dockerfile quyết định hiệu quả của cache.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Một Dockerfile có bốn target. Stage test chạy lint và unit test ngay khi build. Stage production chỉ chứa thứ cần để chạy và dùng user thường.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chi tiết này nhóm đã gặp thật khi kiểm thử. Lệnh docker kill không kích hoạt restart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cốt lõi là mô hình khai báo. Ta nói trạng thái mong muốn, controller liên tục đưa thực tế về trạng thái đó. Mọi thứ chỉ hoạt động nếu ứng dụng không giữ trạng thái.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Pod mới phải sẵn sàng thì pod cũ mới bị gỡ, nên số pod phục vụ không bao giờ giảm.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công nghệ không đối đầu nhau. Docker Desktop trên Windows cũng chạy container bên trong máy ảo WSL 2. Nghiên cứu của IBM năm 2015 cho thấy container bằng hoặc tốt hơn máy ảo trong hầu hết phép thử.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Kubernetes không phải lựa chọn mặc định. Nhóm làm cả hai nền tảng để đo được sự khác biệt.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duyệt chỉ vào qua gateway. API không giữ trạng thái: phiên là JWT, cache và hàng đợi nằm ở Redis. Cơ sở dữ liệu nằm trong mạng nội bộ, gateway không có đường tới.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Redis pub/sub cần thiết vì trình duyệt nối với một replica, còn worker là container khác. Publish tới mọi replica thì replica nào giữ kết nối cũng gửi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rà từng loại trạng thái và đưa ra khỏi tiến trình. Đây là thay đổi quyết định để scale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Chứng minh bằng lệnh thật trong demo: id không phải root, touch bị từ chối, CapEff bằng không.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phần demo chính. Không mount Docker socket vì như vậy là trao toàn quyền điều khiển máy chủ cho container.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Số lỗ hổng là ảnh chụp cơ sở dữ liệu tại ngày quét. Distroless nhỏ hơn một chút nhưng khó gỡ lỗi, nên nhóm giữ Alpine. Rebuild sau khi sửa một dòng chỉ nhanh hơn chút ít vì dự án có ít thư viện: nhóm báo cáo đúng như đo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Thông lượng tăng từ 107 lên 510 request mỗi giây. Không đạt tuyến tính hoàn hảo vì công cụ tạo tải chạy chung máy và gateway có giới hạn CPU.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Không mất request nào trong các thí nghiệm này. Lưu ý trung thực: nhóm từng thấy 1 lỗi 502 trên 300 request khi docker kill đúng lúc DNS cập nhật, báo cáo có giải thích.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Biểu đồ trái: số pod sẵn sàng không bao giờ dưới ba. Biểu đồ phải: HPA tăng khi CPU vượt 70 phần trăm và tự giảm sau khi hết tải.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phần nhóm học được nhiều nhất. Toàn bộ lỗi này chỉ lộ ra khi cố tình gây sự cố và đo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luận: nền tảng chỉ cung cấp cơ chế, ứng dụng phải phối hợp. Compose đủ cho một máy, Kubernetes đáng giá khi cần cập nhật không gián đoạn và tự động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Cảm ơn thầy và các bạn, mời đặt câu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1672" cy="329184"/>
          </a:xfrm>
          <a:prstGeom prst="rect">
            <a:avLst/>
          </a:prstGeom>
          <a:noFill/>
          <a:ln/>
        </p:spPr>
        <p:txBody>
          <a:bodyPr wrap="square" rtlCol="0"/>
          <a:lstStyle>
            <a:lvl1pPr indent="0" marL="0">
              <a:buNone/>
              <a:defRPr lang="en-US" sz="1400" b="1" spc="100" kern="0" dirty="0">
                <a:solidFill>
                  <a:schemeClr val="accent1"/>
                </a:solidFill>
              </a:defRPr>
            </a:lvl1pPr>
          </a:lstStyle>
          <a:p>
            <a:pPr indent="0" marL="0">
              <a:buNone/>
            </a:pPr>
            <a:endParaRPr lang="en-US" sz="1400" dirty="0"/>
          </a:p>
        </p:txBody>
      </p:sp>
      <p:sp>
        <p:nvSpPr>
          <p:cNvPr id="3" name="Text 0"/>
          <p:cNvSpPr/>
          <p:nvPr>
            <p:ph idx="101" type="title" hasCustomPrompt="1"/>
          </p:nvPr>
        </p:nvSpPr>
        <p:spPr>
          <a:xfrm>
            <a:off x="548640" y="658368"/>
            <a:ext cx="11091672" cy="658368"/>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822960"/>
            <a:ext cx="11091672" cy="365760"/>
          </a:xfrm>
          <a:prstGeom prst="rect">
            <a:avLst/>
          </a:prstGeom>
          <a:noFill/>
          <a:ln/>
        </p:spPr>
        <p:txBody>
          <a:bodyPr wrap="square" rtlCol="0"/>
          <a:lstStyle>
            <a:lvl1pPr indent="0" marL="0">
              <a:buNone/>
              <a:defRPr lang="en-US" sz="1400" b="1" spc="100" kern="0" dirty="0">
                <a:solidFill>
                  <a:schemeClr val="accent5"/>
                </a:solidFill>
              </a:defRPr>
            </a:lvl1pPr>
          </a:lstStyle>
          <a:p>
            <a:pPr indent="0" marL="0">
              <a:buNone/>
            </a:pPr>
            <a:endParaRPr lang="en-US" sz="1400" dirty="0"/>
          </a:p>
        </p:txBody>
      </p:sp>
      <p:sp>
        <p:nvSpPr>
          <p:cNvPr id="3" name="Text 0"/>
          <p:cNvSpPr/>
          <p:nvPr>
            <p:ph idx="101" type="title" hasCustomPrompt="1"/>
          </p:nvPr>
        </p:nvSpPr>
        <p:spPr>
          <a:xfrm>
            <a:off x="548640" y="1280160"/>
            <a:ext cx="11091672" cy="192024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2.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548640" y="1280160"/>
            <a:ext cx="11091672" cy="1920240"/>
          </a:xfrm>
          <a:prstGeom prst="rect">
            <a:avLst/>
          </a:prstGeom>
          <a:noFill/>
          <a:ln/>
        </p:spPr>
        <p:txBody>
          <a:bodyPr wrap="square" lIns="0" tIns="0" rIns="0" bIns="0" rtlCol="0" anchor="t"/>
          <a:lstStyle/>
          <a:p>
            <a:pPr algn="l" indent="0" marL="0">
              <a:buNone/>
            </a:pPr>
            <a:r>
              <a:rPr lang="en-US" sz="4800" b="1" dirty="0">
                <a:solidFill>
                  <a:schemeClr val="bg1"/>
                </a:solidFill>
              </a:rPr>
              <a:t>Containers in Web Development and Deployment (Docker)</a:t>
            </a:r>
            <a:endParaRPr lang="en-US" sz="4800" dirty="0"/>
          </a:p>
        </p:txBody>
      </p:sp>
      <p:sp>
        <p:nvSpPr>
          <p:cNvPr id="4" name="Text 0"/>
          <p:cNvSpPr/>
          <p:nvPr>
            <p:ph idx="100" type="body" hasCustomPrompt="1"/>
          </p:nvPr>
        </p:nvSpPr>
        <p:spPr>
          <a:xfrm>
            <a:off x="548640" y="822960"/>
            <a:ext cx="11091672" cy="365760"/>
          </a:xfrm>
          <a:prstGeom prst="rect">
            <a:avLst/>
          </a:prstGeom>
          <a:noFill/>
          <a:ln/>
        </p:spPr>
        <p:txBody>
          <a:bodyPr wrap="square" lIns="0" tIns="0" rIns="0" bIns="0" rtlCol="0" anchor="ctr"/>
          <a:lstStyle/>
          <a:p>
            <a:pPr indent="0" marL="0">
              <a:buNone/>
            </a:pPr>
            <a:r>
              <a:rPr lang="en-US" sz="1400" b="1" spc="100" kern="0" dirty="0">
                <a:solidFill>
                  <a:schemeClr val="accent5"/>
                </a:solidFill>
              </a:rPr>
              <a:t>MIDTERM ESSAY · 503073 WEB PROGRAMMING &amp; APPLICATIONS</a:t>
            </a:r>
            <a:endParaRPr lang="en-US" sz="1400" dirty="0"/>
          </a:p>
        </p:txBody>
      </p:sp>
      <p:sp>
        <p:nvSpPr>
          <p:cNvPr id="5" name="Authors"/>
          <p:cNvSpPr txBox="1"/>
          <p:nvPr/>
        </p:nvSpPr>
        <p:spPr>
          <a:xfrm>
            <a:off x="548640" y="4434840"/>
            <a:ext cx="7863840" cy="1463040"/>
          </a:xfrm>
          <a:prstGeom prst="rect">
            <a:avLst/>
          </a:prstGeom>
          <a:noFill/>
          <a:ln/>
        </p:spPr>
        <p:txBody>
          <a:bodyPr wrap="square" lIns="0" tIns="0" rIns="0" bIns="0" rtlCol="0" anchor="b"/>
          <a:lstStyle/>
          <a:p>
            <a:pPr algn="l" indent="0" marL="0">
              <a:buNone/>
            </a:pPr>
            <a:r>
              <a:rPr lang="en-US" sz="2000" b="1" dirty="0">
                <a:solidFill>
                  <a:schemeClr val="bg1"/>
                </a:solidFill>
              </a:rPr>
              <a:t>Trần Trung Hiếu · 52400047</a:t>
            </a:r>
            <a:endParaRPr lang="en-US" sz="2000" dirty="0"/>
          </a:p>
          <a:p>
            <a:pPr algn="l" indent="0" marL="0">
              <a:buNone/>
            </a:pPr>
            <a:r>
              <a:rPr lang="en-US" sz="2000" b="1" dirty="0">
                <a:solidFill>
                  <a:schemeClr val="bg1"/>
                </a:solidFill>
              </a:rPr>
              <a:t>Nguyễn Đức Nhật Huy · 52400122</a:t>
            </a:r>
            <a:endParaRPr lang="en-US" sz="2000" dirty="0"/>
          </a:p>
          <a:p>
            <a:pPr algn="l" indent="0" marL="0">
              <a:buNone/>
            </a:pPr>
            <a:r>
              <a:rPr lang="en-US" sz="1600" dirty="0">
                <a:solidFill>
                  <a:schemeClr val="accent6"/>
                </a:solidFill>
              </a:rPr>
              <a:t>Instructor: MSc. Nguyễn Thái Duy</a:t>
            </a:r>
            <a:endParaRPr lang="en-US" sz="2000" dirty="0"/>
          </a:p>
          <a:p>
            <a:pPr algn="l" indent="0" marL="0">
              <a:buNone/>
            </a:pPr>
            <a:r>
              <a:rPr lang="en-US" sz="1600" dirty="0">
                <a:solidFill>
                  <a:schemeClr val="accent6"/>
                </a:solidFill>
              </a:rPr>
              <a:t>Faculty of Information Technology, Ton Duc Thang University</a:t>
            </a:r>
            <a:endParaRPr lang="en-US" sz="2000" dirty="0"/>
          </a:p>
        </p:txBody>
      </p:sp>
      <p:sp>
        <p:nvSpPr>
          <p:cNvPr id="6" name="Logo panel"/>
          <p:cNvSpPr/>
          <p:nvPr/>
        </p:nvSpPr>
        <p:spPr>
          <a:xfrm>
            <a:off x="9235440" y="4709160"/>
            <a:ext cx="2404872" cy="1188720"/>
          </a:xfrm>
          <a:prstGeom prst="roundRect">
            <a:avLst>
              <a:gd name="adj" fmla="val 6154"/>
            </a:avLst>
          </a:prstGeom>
          <a:solidFill>
            <a:schemeClr val="bg1"/>
          </a:solidFill>
          <a:ln w="6350">
            <a:solidFill>
              <a:schemeClr val="bg1"/>
            </a:solidFill>
            <a:prstDash val="solid"/>
          </a:ln>
        </p:spPr>
      </p:sp>
      <p:pic>
        <p:nvPicPr>
          <p:cNvPr id="7" name="Logo" descr="Ton Duc Thang University logo">    </p:cNvPr>
          <p:cNvPicPr>
            <a:picLocks noChangeAspect="1"/>
          </p:cNvPicPr>
          <p:nvPr/>
        </p:nvPicPr>
        <p:blipFill>
          <a:blip r:embed="rId1"/>
          <a:stretch>
            <a:fillRect/>
          </a:stretch>
        </p:blipFill>
        <p:spPr>
          <a:xfrm>
            <a:off x="9528404" y="4800600"/>
            <a:ext cx="1818944" cy="10058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548640" y="658368"/>
            <a:ext cx="11091672" cy="658368"/>
          </a:xfrm>
          <a:prstGeom prst="rect">
            <a:avLst/>
          </a:prstGeom>
          <a:noFill/>
          <a:ln/>
        </p:spPr>
        <p:txBody>
          <a:bodyPr wrap="square" lIns="0" tIns="0" rIns="0" bIns="0" rtlCol="0" anchor="ctr"/>
          <a:lstStyle/>
          <a:p>
            <a:pPr algn="l" indent="0" marL="0">
              <a:buNone/>
            </a:pPr>
            <a:r>
              <a:rPr lang="en-US" sz="3000" b="1" dirty="0">
                <a:solidFill>
                  <a:schemeClr val="tx1"/>
                </a:solidFill>
              </a:rPr>
              <a:t>“It works on my machine”</a:t>
            </a:r>
            <a:endParaRPr lang="en-US" sz="3000" dirty="0"/>
          </a:p>
        </p:txBody>
      </p:sp>
      <p:sp>
        <p:nvSpPr>
          <p:cNvPr id="4" name="Text 0"/>
          <p:cNvSpPr/>
          <p:nvPr>
            <p:ph idx="100" type="body" hasCustomPrompt="1"/>
          </p:nvPr>
        </p:nvSpPr>
        <p:spPr>
          <a:xfrm>
            <a:off x="548640" y="347472"/>
            <a:ext cx="11091672" cy="329184"/>
          </a:xfrm>
          <a:prstGeom prst="rect">
            <a:avLst/>
          </a:prstGeom>
          <a:noFill/>
          <a:ln/>
        </p:spPr>
        <p:txBody>
          <a:bodyPr wrap="square" lIns="0" tIns="0" rIns="0" bIns="0" rtlCol="0" anchor="ctr"/>
          <a:lstStyle/>
          <a:p>
            <a:pPr indent="0" marL="0">
              <a:buNone/>
            </a:pPr>
            <a:r>
              <a:rPr lang="en-US" sz="1400" b="1" spc="100" kern="0" dirty="0">
                <a:solidFill>
                  <a:schemeClr val="accent1"/>
                </a:solidFill>
              </a:rPr>
              <a:t>WHY THIS TOPIC</a:t>
            </a:r>
            <a:endParaRPr lang="en-US" sz="1400" dirty="0"/>
          </a:p>
        </p:txBody>
      </p:sp>
      <p:sp>
        <p:nvSpPr>
          <p:cNvPr id="5" name="Lead"/>
          <p:cNvSpPr txBox="1"/>
          <p:nvPr/>
        </p:nvSpPr>
        <p:spPr>
          <a:xfrm>
            <a:off x="548640" y="1417320"/>
            <a:ext cx="11091672" cy="960120"/>
          </a:xfrm>
          <a:prstGeom prst="rect">
            <a:avLst/>
          </a:prstGeom>
          <a:noFill/>
          <a:ln/>
        </p:spPr>
        <p:txBody>
          <a:bodyPr wrap="square" lIns="0" tIns="0" rIns="0" bIns="0" rtlCol="0" anchor="t"/>
          <a:lstStyle/>
          <a:p>
            <a:pPr algn="l" indent="0" marL="0">
              <a:buNone/>
            </a:pPr>
            <a:r>
              <a:rPr lang="en-US" sz="2000" dirty="0">
                <a:solidFill>
                  <a:schemeClr val="accent4"/>
                </a:solidFill>
              </a:rPr>
              <a:t>The code is fine. The environment around it drifts. Containers package the application with everything it needs, so it behaves the same on any host.</a:t>
            </a:r>
            <a:endParaRPr lang="en-US" sz="2000" dirty="0"/>
          </a:p>
        </p:txBody>
      </p:sp>
      <p:sp>
        <p:nvSpPr>
          <p:cNvPr id="6" name="Stat 71.1%"/>
          <p:cNvSpPr/>
          <p:nvPr/>
        </p:nvSpPr>
        <p:spPr>
          <a:xfrm>
            <a:off x="548640" y="2606040"/>
            <a:ext cx="5413248" cy="2651760"/>
          </a:xfrm>
          <a:prstGeom prst="roundRect">
            <a:avLst>
              <a:gd name="adj" fmla="val 2759"/>
            </a:avLst>
          </a:prstGeom>
          <a:solidFill>
            <a:schemeClr val="bg1"/>
          </a:solidFill>
          <a:ln w="9525">
            <a:solidFill>
              <a:schemeClr val="accent6"/>
            </a:solidFill>
          </a:ln>
        </p:spPr>
        <p:txBody>
          <a:bodyPr wrap="square" lIns="177800" tIns="177800" rIns="177800" bIns="177800" rtlCol="0" anchor="ctr"/>
          <a:lstStyle/>
          <a:p>
            <a:pPr algn="l" indent="0" marL="0">
              <a:spcAft>
                <a:spcPts val="600"/>
              </a:spcAft>
              <a:buNone/>
            </a:pPr>
            <a:r>
              <a:rPr lang="en-US" sz="5400" b="1" dirty="0">
                <a:solidFill>
                  <a:schemeClr val="accent1"/>
                </a:solidFill>
              </a:rPr>
              <a:t>71.1%</a:t>
            </a:r>
            <a:endParaRPr lang="en-US" sz="5400" dirty="0"/>
          </a:p>
          <a:p>
            <a:pPr algn="l" indent="0" marL="0">
              <a:buNone/>
            </a:pPr>
            <a:r>
              <a:rPr lang="en-US" sz="1700" dirty="0">
                <a:solidFill>
                  <a:schemeClr val="accent4"/>
                </a:solidFill>
              </a:rPr>
              <a:t>of respondents use Docker (Stack Overflow Developer Survey, 2025)</a:t>
            </a:r>
            <a:endParaRPr lang="en-US" sz="5400" dirty="0"/>
          </a:p>
        </p:txBody>
      </p:sp>
      <p:sp>
        <p:nvSpPr>
          <p:cNvPr id="7" name="Stat 82%"/>
          <p:cNvSpPr/>
          <p:nvPr/>
        </p:nvSpPr>
        <p:spPr>
          <a:xfrm>
            <a:off x="6227064" y="2606040"/>
            <a:ext cx="5413248" cy="2651760"/>
          </a:xfrm>
          <a:prstGeom prst="roundRect">
            <a:avLst>
              <a:gd name="adj" fmla="val 2759"/>
            </a:avLst>
          </a:prstGeom>
          <a:solidFill>
            <a:schemeClr val="bg1"/>
          </a:solidFill>
          <a:ln w="9525">
            <a:solidFill>
              <a:schemeClr val="accent6"/>
            </a:solidFill>
          </a:ln>
        </p:spPr>
        <p:txBody>
          <a:bodyPr wrap="square" lIns="177800" tIns="177800" rIns="177800" bIns="177800" rtlCol="0" anchor="ctr"/>
          <a:lstStyle/>
          <a:p>
            <a:pPr algn="l" indent="0" marL="0">
              <a:spcAft>
                <a:spcPts val="600"/>
              </a:spcAft>
              <a:buNone/>
            </a:pPr>
            <a:r>
              <a:rPr lang="en-US" sz="5400" b="1" dirty="0">
                <a:solidFill>
                  <a:schemeClr val="accent1"/>
                </a:solidFill>
              </a:rPr>
              <a:t>82%</a:t>
            </a:r>
            <a:endParaRPr lang="en-US" sz="5400" dirty="0"/>
          </a:p>
          <a:p>
            <a:pPr algn="l" indent="0" marL="0">
              <a:buNone/>
            </a:pPr>
            <a:r>
              <a:rPr lang="en-US" sz="1700" dirty="0">
                <a:solidFill>
                  <a:schemeClr val="accent4"/>
                </a:solidFill>
              </a:rPr>
              <a:t>of container users run Kubernetes in production (CNCF survey, 2025)</a:t>
            </a:r>
            <a:endParaRPr lang="en-US" sz="54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548640" y="658368"/>
            <a:ext cx="11091672" cy="658368"/>
          </a:xfrm>
          <a:prstGeom prst="rect">
            <a:avLst/>
          </a:prstGeom>
          <a:noFill/>
          <a:ln/>
        </p:spPr>
        <p:txBody>
          <a:bodyPr wrap="square" lIns="0" tIns="0" rIns="0" bIns="0" rtlCol="0" anchor="ctr"/>
          <a:lstStyle/>
          <a:p>
            <a:pPr algn="l" indent="0" marL="0">
              <a:buNone/>
            </a:pPr>
            <a:r>
              <a:rPr lang="en-US" sz="3000" b="1" dirty="0">
                <a:solidFill>
                  <a:schemeClr val="tx1"/>
                </a:solidFill>
              </a:rPr>
              <a:t>We built it, broke it on purpose and measured it</a:t>
            </a:r>
            <a:endParaRPr lang="en-US" sz="3000" dirty="0"/>
          </a:p>
        </p:txBody>
      </p:sp>
      <p:sp>
        <p:nvSpPr>
          <p:cNvPr id="4" name="Text 0"/>
          <p:cNvSpPr/>
          <p:nvPr>
            <p:ph idx="100" type="body" hasCustomPrompt="1"/>
          </p:nvPr>
        </p:nvSpPr>
        <p:spPr>
          <a:xfrm>
            <a:off x="548640" y="347472"/>
            <a:ext cx="11091672" cy="329184"/>
          </a:xfrm>
          <a:prstGeom prst="rect">
            <a:avLst/>
          </a:prstGeom>
          <a:noFill/>
          <a:ln/>
        </p:spPr>
        <p:txBody>
          <a:bodyPr wrap="square" lIns="0" tIns="0" rIns="0" bIns="0" rtlCol="0" anchor="ctr"/>
          <a:lstStyle/>
          <a:p>
            <a:pPr indent="0" marL="0">
              <a:buNone/>
            </a:pPr>
            <a:r>
              <a:rPr lang="en-US" sz="1400" b="1" spc="100" kern="0" dirty="0">
                <a:solidFill>
                  <a:schemeClr val="accent1"/>
                </a:solidFill>
              </a:rPr>
              <a:t>OUTLINE</a:t>
            </a:r>
            <a:endParaRPr lang="en-US" sz="1400" dirty="0"/>
          </a:p>
        </p:txBody>
      </p:sp>
      <p:sp>
        <p:nvSpPr>
          <p:cNvPr id="5" name="Card: Theory"/>
          <p:cNvSpPr/>
          <p:nvPr/>
        </p:nvSpPr>
        <p:spPr>
          <a:xfrm>
            <a:off x="548640" y="1417320"/>
            <a:ext cx="5413248" cy="2240280"/>
          </a:xfrm>
          <a:prstGeom prst="roundRect">
            <a:avLst>
              <a:gd name="adj" fmla="val 3265"/>
            </a:avLst>
          </a:prstGeom>
          <a:solidFill>
            <a:schemeClr val="bg1"/>
          </a:solidFill>
          <a:ln w="9525">
            <a:solidFill>
              <a:schemeClr val="accent6"/>
            </a:solidFill>
          </a:ln>
        </p:spPr>
        <p:txBody>
          <a:bodyPr wrap="square" lIns="203200" tIns="203200" rIns="203200" bIns="203200" rtlCol="0" anchor="ctr"/>
          <a:lstStyle/>
          <a:p>
            <a:pPr algn="l" indent="0" marL="0">
              <a:spcAft>
                <a:spcPts val="800"/>
              </a:spcAft>
              <a:buNone/>
            </a:pPr>
            <a:r>
              <a:rPr lang="en-US" sz="2400" b="1" dirty="0">
                <a:solidFill>
                  <a:schemeClr val="tx1"/>
                </a:solidFill>
              </a:rPr>
              <a:t>Theory</a:t>
            </a:r>
            <a:endParaRPr lang="en-US" sz="2400" dirty="0"/>
          </a:p>
          <a:p>
            <a:pPr algn="l" indent="0" marL="0">
              <a:buNone/>
            </a:pPr>
            <a:r>
              <a:rPr lang="en-US" sz="2000" dirty="0">
                <a:solidFill>
                  <a:schemeClr val="accent4"/>
                </a:solidFill>
              </a:rPr>
              <a:t>How containers work, from Linux kernel features to orchestration.</a:t>
            </a:r>
            <a:endParaRPr lang="en-US" sz="2400" dirty="0"/>
          </a:p>
        </p:txBody>
      </p:sp>
      <p:sp>
        <p:nvSpPr>
          <p:cNvPr id="6" name="Card: Comparison"/>
          <p:cNvSpPr/>
          <p:nvPr/>
        </p:nvSpPr>
        <p:spPr>
          <a:xfrm>
            <a:off x="6227064" y="1417320"/>
            <a:ext cx="5413248" cy="2240280"/>
          </a:xfrm>
          <a:prstGeom prst="roundRect">
            <a:avLst>
              <a:gd name="adj" fmla="val 3265"/>
            </a:avLst>
          </a:prstGeom>
          <a:solidFill>
            <a:schemeClr val="bg1"/>
          </a:solidFill>
          <a:ln w="9525">
            <a:solidFill>
              <a:schemeClr val="accent6"/>
            </a:solidFill>
          </a:ln>
        </p:spPr>
        <p:txBody>
          <a:bodyPr wrap="square" lIns="203200" tIns="203200" rIns="203200" bIns="203200" rtlCol="0" anchor="ctr"/>
          <a:lstStyle/>
          <a:p>
            <a:pPr algn="l" indent="0" marL="0">
              <a:spcAft>
                <a:spcPts val="800"/>
              </a:spcAft>
              <a:buNone/>
            </a:pPr>
            <a:r>
              <a:rPr lang="en-US" sz="2400" b="1" dirty="0">
                <a:solidFill>
                  <a:schemeClr val="tx1"/>
                </a:solidFill>
              </a:rPr>
              <a:t>Comparison</a:t>
            </a:r>
            <a:endParaRPr lang="en-US" sz="2400" dirty="0"/>
          </a:p>
          <a:p>
            <a:pPr algn="l" indent="0" marL="0">
              <a:buNone/>
            </a:pPr>
            <a:r>
              <a:rPr lang="en-US" sz="2000" dirty="0">
                <a:solidFill>
                  <a:schemeClr val="accent4"/>
                </a:solidFill>
              </a:rPr>
              <a:t>Virtual machines, other engines, Compose and Kubernetes.</a:t>
            </a:r>
            <a:endParaRPr lang="en-US" sz="2400" dirty="0"/>
          </a:p>
        </p:txBody>
      </p:sp>
      <p:sp>
        <p:nvSpPr>
          <p:cNvPr id="7" name="Card: DockMart"/>
          <p:cNvSpPr/>
          <p:nvPr/>
        </p:nvSpPr>
        <p:spPr>
          <a:xfrm>
            <a:off x="548640" y="3886200"/>
            <a:ext cx="5413248" cy="2240280"/>
          </a:xfrm>
          <a:prstGeom prst="roundRect">
            <a:avLst>
              <a:gd name="adj" fmla="val 3265"/>
            </a:avLst>
          </a:prstGeom>
          <a:solidFill>
            <a:schemeClr val="bg1"/>
          </a:solidFill>
          <a:ln w="9525">
            <a:solidFill>
              <a:schemeClr val="accent6"/>
            </a:solidFill>
          </a:ln>
        </p:spPr>
        <p:txBody>
          <a:bodyPr wrap="square" lIns="203200" tIns="203200" rIns="203200" bIns="203200" rtlCol="0" anchor="ctr"/>
          <a:lstStyle/>
          <a:p>
            <a:pPr algn="l" indent="0" marL="0">
              <a:spcAft>
                <a:spcPts val="800"/>
              </a:spcAft>
              <a:buNone/>
            </a:pPr>
            <a:r>
              <a:rPr lang="en-US" sz="2400" b="1" dirty="0">
                <a:solidFill>
                  <a:schemeClr val="tx1"/>
                </a:solidFill>
              </a:rPr>
              <a:t>DockMart</a:t>
            </a:r>
            <a:endParaRPr lang="en-US" sz="2400" dirty="0"/>
          </a:p>
          <a:p>
            <a:pPr algn="l" indent="0" marL="0">
              <a:buNone/>
            </a:pPr>
            <a:r>
              <a:rPr lang="en-US" sz="2000" dirty="0">
                <a:solidFill>
                  <a:schemeClr val="accent4"/>
                </a:solidFill>
              </a:rPr>
              <a:t>A multi-container online store built to test each claim.</a:t>
            </a:r>
            <a:endParaRPr lang="en-US" sz="2400" dirty="0"/>
          </a:p>
        </p:txBody>
      </p:sp>
      <p:sp>
        <p:nvSpPr>
          <p:cNvPr id="8" name="Card: Results"/>
          <p:cNvSpPr/>
          <p:nvPr/>
        </p:nvSpPr>
        <p:spPr>
          <a:xfrm>
            <a:off x="6227064" y="3886200"/>
            <a:ext cx="5413248" cy="2240280"/>
          </a:xfrm>
          <a:prstGeom prst="roundRect">
            <a:avLst>
              <a:gd name="adj" fmla="val 3265"/>
            </a:avLst>
          </a:prstGeom>
          <a:solidFill>
            <a:schemeClr val="bg1"/>
          </a:solidFill>
          <a:ln w="9525">
            <a:solidFill>
              <a:schemeClr val="accent6"/>
            </a:solidFill>
          </a:ln>
        </p:spPr>
        <p:txBody>
          <a:bodyPr wrap="square" lIns="203200" tIns="203200" rIns="203200" bIns="203200" rtlCol="0" anchor="ctr"/>
          <a:lstStyle/>
          <a:p>
            <a:pPr algn="l" indent="0" marL="0">
              <a:spcAft>
                <a:spcPts val="800"/>
              </a:spcAft>
              <a:buNone/>
            </a:pPr>
            <a:r>
              <a:rPr lang="en-US" sz="2400" b="1" dirty="0">
                <a:solidFill>
                  <a:schemeClr val="tx1"/>
                </a:solidFill>
              </a:rPr>
              <a:t>Results</a:t>
            </a:r>
            <a:endParaRPr lang="en-US" sz="2400" dirty="0"/>
          </a:p>
          <a:p>
            <a:pPr algn="l" indent="0" marL="0">
              <a:buNone/>
            </a:pPr>
            <a:r>
              <a:rPr lang="en-US" sz="2000" dirty="0">
                <a:solidFill>
                  <a:schemeClr val="accent4"/>
                </a:solidFill>
              </a:rPr>
              <a:t>Image size, scaling, failures, rolling updates, autoscaling.</a:t>
            </a:r>
            <a:endParaRPr lang="en-US" sz="24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548640" y="658368"/>
            <a:ext cx="11091672" cy="658368"/>
          </a:xfrm>
          <a:prstGeom prst="rect">
            <a:avLst/>
          </a:prstGeom>
          <a:noFill/>
          <a:ln/>
        </p:spPr>
        <p:txBody>
          <a:bodyPr wrap="square" lIns="0" tIns="0" rIns="0" bIns="0" rtlCol="0" anchor="ctr"/>
          <a:lstStyle/>
          <a:p>
            <a:pPr algn="l" indent="0" marL="0">
              <a:buNone/>
            </a:pPr>
            <a:r>
              <a:rPr lang="en-US" sz="3000" b="1" dirty="0">
                <a:solidFill>
                  <a:schemeClr val="tx1"/>
                </a:solidFill>
              </a:rPr>
              <a:t>Docker made containers easy, it did not invent them</a:t>
            </a:r>
            <a:endParaRPr lang="en-US" sz="3000" dirty="0"/>
          </a:p>
        </p:txBody>
      </p:sp>
      <p:sp>
        <p:nvSpPr>
          <p:cNvPr id="4" name="Text 0"/>
          <p:cNvSpPr/>
          <p:nvPr>
            <p:ph idx="100" type="body" hasCustomPrompt="1"/>
          </p:nvPr>
        </p:nvSpPr>
        <p:spPr>
          <a:xfrm>
            <a:off x="548640" y="347472"/>
            <a:ext cx="11091672" cy="329184"/>
          </a:xfrm>
          <a:prstGeom prst="rect">
            <a:avLst/>
          </a:prstGeom>
          <a:noFill/>
          <a:ln/>
        </p:spPr>
        <p:txBody>
          <a:bodyPr wrap="square" lIns="0" tIns="0" rIns="0" bIns="0" rtlCol="0" anchor="ctr"/>
          <a:lstStyle/>
          <a:p>
            <a:pPr indent="0" marL="0">
              <a:buNone/>
            </a:pPr>
            <a:r>
              <a:rPr lang="en-US" sz="1400" b="1" spc="100" kern="0" dirty="0">
                <a:solidFill>
                  <a:schemeClr val="accent1"/>
                </a:solidFill>
              </a:rPr>
              <a:t>HISTORY</a:t>
            </a:r>
            <a:endParaRPr lang="en-US" sz="1400" dirty="0"/>
          </a:p>
        </p:txBody>
      </p:sp>
      <p:sp>
        <p:nvSpPr>
          <p:cNvPr id="5" name="timeline panel"/>
          <p:cNvSpPr/>
          <p:nvPr/>
        </p:nvSpPr>
        <p:spPr>
          <a:xfrm>
            <a:off x="548640" y="1417320"/>
            <a:ext cx="11091672" cy="4590288"/>
          </a:xfrm>
          <a:prstGeom prst="roundRect">
            <a:avLst>
              <a:gd name="adj" fmla="val 1594"/>
            </a:avLst>
          </a:prstGeom>
          <a:solidFill>
            <a:schemeClr val="bg1"/>
          </a:solidFill>
          <a:ln w="9525">
            <a:solidFill>
              <a:schemeClr val="accent6"/>
            </a:solidFill>
            <a:prstDash val="solid"/>
          </a:ln>
        </p:spPr>
      </p:sp>
      <p:pic>
        <p:nvPicPr>
          <p:cNvPr id="6" name="timeline" descr="Timeline from chroot in 1979 to the removal of dockershim in 2022">    </p:cNvPr>
          <p:cNvPicPr>
            <a:picLocks noChangeAspect="1"/>
          </p:cNvPicPr>
          <p:nvPr/>
        </p:nvPicPr>
        <p:blipFill>
          <a:blip r:embed="rId1"/>
          <a:stretch>
            <a:fillRect/>
          </a:stretch>
        </p:blipFill>
        <p:spPr>
          <a:xfrm>
            <a:off x="676656" y="1545336"/>
            <a:ext cx="10835640" cy="4334256"/>
          </a:xfrm>
          <a:prstGeom prst="rect">
            <a:avLst/>
          </a:prstGeom>
        </p:spPr>
      </p:pic>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548640" y="658368"/>
            <a:ext cx="11091672" cy="658368"/>
          </a:xfrm>
          <a:prstGeom prst="rect">
            <a:avLst/>
          </a:prstGeom>
          <a:noFill/>
          <a:ln/>
        </p:spPr>
        <p:txBody>
          <a:bodyPr wrap="square" lIns="0" tIns="0" rIns="0" bIns="0" rtlCol="0" anchor="ctr"/>
          <a:lstStyle/>
          <a:p>
            <a:pPr algn="l" indent="0" marL="0">
              <a:buNone/>
            </a:pPr>
            <a:r>
              <a:rPr lang="en-US" sz="3000" b="1" dirty="0">
                <a:solidFill>
                  <a:schemeClr val="tx1"/>
                </a:solidFill>
              </a:rPr>
              <a:t>A container is a Linux process, not a small VM</a:t>
            </a:r>
            <a:endParaRPr lang="en-US" sz="3000" dirty="0"/>
          </a:p>
        </p:txBody>
      </p:sp>
      <p:sp>
        <p:nvSpPr>
          <p:cNvPr id="4" name="Text 0"/>
          <p:cNvSpPr/>
          <p:nvPr>
            <p:ph idx="100" type="body" hasCustomPrompt="1"/>
          </p:nvPr>
        </p:nvSpPr>
        <p:spPr>
          <a:xfrm>
            <a:off x="548640" y="347472"/>
            <a:ext cx="11091672" cy="329184"/>
          </a:xfrm>
          <a:prstGeom prst="rect">
            <a:avLst/>
          </a:prstGeom>
          <a:noFill/>
          <a:ln/>
        </p:spPr>
        <p:txBody>
          <a:bodyPr wrap="square" lIns="0" tIns="0" rIns="0" bIns="0" rtlCol="0" anchor="ctr"/>
          <a:lstStyle/>
          <a:p>
            <a:pPr indent="0" marL="0">
              <a:buNone/>
            </a:pPr>
            <a:r>
              <a:rPr lang="en-US" sz="1400" b="1" spc="100" kern="0" dirty="0">
                <a:solidFill>
                  <a:schemeClr val="accent1"/>
                </a:solidFill>
              </a:rPr>
              <a:t>THEORY</a:t>
            </a:r>
            <a:endParaRPr lang="en-US" sz="1400" dirty="0"/>
          </a:p>
        </p:txBody>
      </p:sp>
      <p:sp>
        <p:nvSpPr>
          <p:cNvPr id="5" name="isolation panel"/>
          <p:cNvSpPr/>
          <p:nvPr/>
        </p:nvSpPr>
        <p:spPr>
          <a:xfrm>
            <a:off x="548640" y="1417320"/>
            <a:ext cx="11091672" cy="4114800"/>
          </a:xfrm>
          <a:prstGeom prst="roundRect">
            <a:avLst>
              <a:gd name="adj" fmla="val 1778"/>
            </a:avLst>
          </a:prstGeom>
          <a:solidFill>
            <a:schemeClr val="bg1"/>
          </a:solidFill>
          <a:ln w="9525">
            <a:solidFill>
              <a:schemeClr val="accent6"/>
            </a:solidFill>
            <a:prstDash val="solid"/>
          </a:ln>
        </p:spPr>
      </p:sp>
      <p:pic>
        <p:nvPicPr>
          <p:cNvPr id="6" name="isolation" descr="Namespaces and cgroups around two containers on one Linux kernel">    </p:cNvPr>
          <p:cNvPicPr>
            <a:picLocks noChangeAspect="1"/>
          </p:cNvPicPr>
          <p:nvPr/>
        </p:nvPicPr>
        <p:blipFill>
          <a:blip r:embed="rId1"/>
          <a:stretch>
            <a:fillRect/>
          </a:stretch>
        </p:blipFill>
        <p:spPr>
          <a:xfrm>
            <a:off x="1017150" y="1545336"/>
            <a:ext cx="10154653" cy="3858768"/>
          </a:xfrm>
          <a:prstGeom prst="rect">
            <a:avLst/>
          </a:prstGeom>
        </p:spPr>
      </p:pic>
      <p:sp>
        <p:nvSpPr>
          <p:cNvPr id="7" name="Takeaway"/>
          <p:cNvSpPr txBox="1"/>
          <p:nvPr/>
        </p:nvSpPr>
        <p:spPr>
          <a:xfrm>
            <a:off x="548640" y="5669280"/>
            <a:ext cx="11091672" cy="594360"/>
          </a:xfrm>
          <a:prstGeom prst="rect">
            <a:avLst/>
          </a:prstGeom>
          <a:noFill/>
          <a:ln/>
        </p:spPr>
        <p:txBody>
          <a:bodyPr wrap="square" lIns="0" tIns="0" rIns="0" bIns="0" rtlCol="0" anchor="ctr"/>
          <a:lstStyle/>
          <a:p>
            <a:pPr algn="l" indent="0" marL="0">
              <a:buNone/>
            </a:pPr>
            <a:r>
              <a:rPr lang="en-US" sz="1800" b="1" dirty="0">
                <a:solidFill>
                  <a:schemeClr val="accent4"/>
                </a:solidFill>
              </a:rPr>
              <a:t>Namespaces</a:t>
            </a:r>
            <a:pPr algn="l" indent="0" marL="0">
              <a:buNone/>
            </a:pPr>
            <a:r>
              <a:rPr lang="en-US" sz="1800" dirty="0">
                <a:solidFill>
                  <a:schemeClr val="accent4"/>
                </a:solidFill>
              </a:rPr>
              <a:t> limit what it can see. </a:t>
            </a:r>
            <a:pPr algn="l" indent="0" marL="0">
              <a:buNone/>
            </a:pPr>
            <a:r>
              <a:rPr lang="en-US" sz="1800" b="1" dirty="0">
                <a:solidFill>
                  <a:schemeClr val="accent4"/>
                </a:solidFill>
              </a:rPr>
              <a:t>Cgroups</a:t>
            </a:r>
            <a:pPr algn="l" indent="0" marL="0">
              <a:buNone/>
            </a:pPr>
            <a:r>
              <a:rPr lang="en-US" sz="1800" dirty="0">
                <a:solidFill>
                  <a:schemeClr val="accent4"/>
                </a:solidFill>
              </a:rPr>
              <a:t> limit what it can use.</a:t>
            </a:r>
            <a:endParaRPr lang="en-US" sz="18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548640" y="658368"/>
            <a:ext cx="11091672" cy="658368"/>
          </a:xfrm>
          <a:prstGeom prst="rect">
            <a:avLst/>
          </a:prstGeom>
          <a:noFill/>
          <a:ln/>
        </p:spPr>
        <p:txBody>
          <a:bodyPr wrap="square" lIns="0" tIns="0" rIns="0" bIns="0" rtlCol="0" anchor="ctr"/>
          <a:lstStyle/>
          <a:p>
            <a:pPr algn="l" indent="0" marL="0">
              <a:buNone/>
            </a:pPr>
            <a:r>
              <a:rPr lang="en-US" sz="3000" b="1" dirty="0">
                <a:solidFill>
                  <a:schemeClr val="tx1"/>
                </a:solidFill>
              </a:rPr>
              <a:t>Docker is a client talking to a stack of runtimes</a:t>
            </a:r>
            <a:endParaRPr lang="en-US" sz="3000" dirty="0"/>
          </a:p>
        </p:txBody>
      </p:sp>
      <p:sp>
        <p:nvSpPr>
          <p:cNvPr id="4" name="Text 0"/>
          <p:cNvSpPr/>
          <p:nvPr>
            <p:ph idx="100" type="body" hasCustomPrompt="1"/>
          </p:nvPr>
        </p:nvSpPr>
        <p:spPr>
          <a:xfrm>
            <a:off x="548640" y="347472"/>
            <a:ext cx="11091672" cy="329184"/>
          </a:xfrm>
          <a:prstGeom prst="rect">
            <a:avLst/>
          </a:prstGeom>
          <a:noFill/>
          <a:ln/>
        </p:spPr>
        <p:txBody>
          <a:bodyPr wrap="square" lIns="0" tIns="0" rIns="0" bIns="0" rtlCol="0" anchor="ctr"/>
          <a:lstStyle/>
          <a:p>
            <a:pPr indent="0" marL="0">
              <a:buNone/>
            </a:pPr>
            <a:r>
              <a:rPr lang="en-US" sz="1400" b="1" spc="100" kern="0" dirty="0">
                <a:solidFill>
                  <a:schemeClr val="accent1"/>
                </a:solidFill>
              </a:rPr>
              <a:t>THEORY</a:t>
            </a:r>
            <a:endParaRPr lang="en-US" sz="1400" dirty="0"/>
          </a:p>
        </p:txBody>
      </p:sp>
      <p:sp>
        <p:nvSpPr>
          <p:cNvPr id="5" name="docker_arch panel"/>
          <p:cNvSpPr/>
          <p:nvPr/>
        </p:nvSpPr>
        <p:spPr>
          <a:xfrm>
            <a:off x="548640" y="1417320"/>
            <a:ext cx="11091672" cy="4590288"/>
          </a:xfrm>
          <a:prstGeom prst="roundRect">
            <a:avLst>
              <a:gd name="adj" fmla="val 1594"/>
            </a:avLst>
          </a:prstGeom>
          <a:solidFill>
            <a:schemeClr val="bg1"/>
          </a:solidFill>
          <a:ln w="9525">
            <a:solidFill>
              <a:schemeClr val="accent6"/>
            </a:solidFill>
            <a:prstDash val="solid"/>
          </a:ln>
        </p:spPr>
      </p:sp>
      <p:pic>
        <p:nvPicPr>
          <p:cNvPr id="6" name="docker_arch" descr="Docker client, dockerd, containerd, shim, runc and a registry">    </p:cNvPr>
          <p:cNvPicPr>
            <a:picLocks noChangeAspect="1"/>
          </p:cNvPicPr>
          <p:nvPr/>
        </p:nvPicPr>
        <p:blipFill>
          <a:blip r:embed="rId1"/>
          <a:stretch>
            <a:fillRect/>
          </a:stretch>
        </p:blipFill>
        <p:spPr>
          <a:xfrm>
            <a:off x="676656" y="1545336"/>
            <a:ext cx="10835640" cy="4334256"/>
          </a:xfrm>
          <a:prstGeom prst="rect">
            <a:avLst/>
          </a:prstGeom>
        </p:spPr>
      </p:pic>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548640" y="658368"/>
            <a:ext cx="11091672" cy="658368"/>
          </a:xfrm>
          <a:prstGeom prst="rect">
            <a:avLst/>
          </a:prstGeom>
          <a:noFill/>
          <a:ln/>
        </p:spPr>
        <p:txBody>
          <a:bodyPr wrap="square" lIns="0" tIns="0" rIns="0" bIns="0" rtlCol="0" anchor="ctr"/>
          <a:lstStyle/>
          <a:p>
            <a:pPr algn="l" indent="0" marL="0">
              <a:buNone/>
            </a:pPr>
            <a:r>
              <a:rPr lang="en-US" sz="3000" b="1" dirty="0">
                <a:solidFill>
                  <a:schemeClr val="tx1"/>
                </a:solidFill>
              </a:rPr>
              <a:t>Images are shared layers</a:t>
            </a:r>
            <a:endParaRPr lang="en-US" sz="3000" dirty="0"/>
          </a:p>
        </p:txBody>
      </p:sp>
      <p:sp>
        <p:nvSpPr>
          <p:cNvPr id="4" name="Text 0"/>
          <p:cNvSpPr/>
          <p:nvPr>
            <p:ph idx="100" type="body" hasCustomPrompt="1"/>
          </p:nvPr>
        </p:nvSpPr>
        <p:spPr>
          <a:xfrm>
            <a:off x="548640" y="347472"/>
            <a:ext cx="11091672" cy="329184"/>
          </a:xfrm>
          <a:prstGeom prst="rect">
            <a:avLst/>
          </a:prstGeom>
          <a:noFill/>
          <a:ln/>
        </p:spPr>
        <p:txBody>
          <a:bodyPr wrap="square" lIns="0" tIns="0" rIns="0" bIns="0" rtlCol="0" anchor="ctr"/>
          <a:lstStyle/>
          <a:p>
            <a:pPr indent="0" marL="0">
              <a:buNone/>
            </a:pPr>
            <a:r>
              <a:rPr lang="en-US" sz="1400" b="1" spc="100" kern="0" dirty="0">
                <a:solidFill>
                  <a:schemeClr val="accent1"/>
                </a:solidFill>
              </a:rPr>
              <a:t>THEORY</a:t>
            </a:r>
            <a:endParaRPr lang="en-US" sz="1400" dirty="0"/>
          </a:p>
        </p:txBody>
      </p:sp>
      <p:sp>
        <p:nvSpPr>
          <p:cNvPr id="5" name="layers panel"/>
          <p:cNvSpPr/>
          <p:nvPr/>
        </p:nvSpPr>
        <p:spPr>
          <a:xfrm>
            <a:off x="548640" y="1417320"/>
            <a:ext cx="11091672" cy="4114800"/>
          </a:xfrm>
          <a:prstGeom prst="roundRect">
            <a:avLst>
              <a:gd name="adj" fmla="val 1778"/>
            </a:avLst>
          </a:prstGeom>
          <a:solidFill>
            <a:schemeClr val="bg1"/>
          </a:solidFill>
          <a:ln w="9525">
            <a:solidFill>
              <a:schemeClr val="accent6"/>
            </a:solidFill>
            <a:prstDash val="solid"/>
          </a:ln>
        </p:spPr>
      </p:sp>
      <p:pic>
        <p:nvPicPr>
          <p:cNvPr id="6" name="layers" descr="Three containers sharing one stack of read-only layers">    </p:cNvPr>
          <p:cNvPicPr>
            <a:picLocks noChangeAspect="1"/>
          </p:cNvPicPr>
          <p:nvPr/>
        </p:nvPicPr>
        <p:blipFill>
          <a:blip r:embed="rId1"/>
          <a:stretch>
            <a:fillRect/>
          </a:stretch>
        </p:blipFill>
        <p:spPr>
          <a:xfrm>
            <a:off x="1147338" y="1545336"/>
            <a:ext cx="9894277" cy="3858768"/>
          </a:xfrm>
          <a:prstGeom prst="rect">
            <a:avLst/>
          </a:prstGeom>
        </p:spPr>
      </p:pic>
      <p:sp>
        <p:nvSpPr>
          <p:cNvPr id="7" name="Takeaway"/>
          <p:cNvSpPr txBox="1"/>
          <p:nvPr/>
        </p:nvSpPr>
        <p:spPr>
          <a:xfrm>
            <a:off x="548640" y="5669280"/>
            <a:ext cx="11091672" cy="594360"/>
          </a:xfrm>
          <a:prstGeom prst="rect">
            <a:avLst/>
          </a:prstGeom>
          <a:noFill/>
          <a:ln/>
        </p:spPr>
        <p:txBody>
          <a:bodyPr wrap="square" lIns="0" tIns="0" rIns="0" bIns="0" rtlCol="0" anchor="ctr"/>
          <a:lstStyle/>
          <a:p>
            <a:pPr algn="l" indent="0" marL="0">
              <a:buNone/>
            </a:pPr>
            <a:r>
              <a:rPr lang="en-US" sz="1800" dirty="0">
                <a:solidFill>
                  <a:schemeClr val="accent4"/>
                </a:solidFill>
              </a:rPr>
              <a:t>Three replicas share one copy on disk, and a change rebuilds only that layer and those after it.</a:t>
            </a:r>
            <a:endParaRPr lang="en-US" sz="18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548640" y="658368"/>
            <a:ext cx="11091672" cy="658368"/>
          </a:xfrm>
          <a:prstGeom prst="rect">
            <a:avLst/>
          </a:prstGeom>
          <a:noFill/>
          <a:ln/>
        </p:spPr>
        <p:txBody>
          <a:bodyPr wrap="square" lIns="0" tIns="0" rIns="0" bIns="0" rtlCol="0" anchor="ctr"/>
          <a:lstStyle/>
          <a:p>
            <a:pPr algn="l" indent="0" marL="0">
              <a:buNone/>
            </a:pPr>
            <a:r>
              <a:rPr lang="en-US" sz="3000" b="1" dirty="0">
                <a:solidFill>
                  <a:schemeClr val="tx1"/>
                </a:solidFill>
              </a:rPr>
              <a:t>Multi-stage builds keep tools out of production</a:t>
            </a:r>
            <a:endParaRPr lang="en-US" sz="3000" dirty="0"/>
          </a:p>
        </p:txBody>
      </p:sp>
      <p:sp>
        <p:nvSpPr>
          <p:cNvPr id="4" name="Text 0"/>
          <p:cNvSpPr/>
          <p:nvPr>
            <p:ph idx="100" type="body" hasCustomPrompt="1"/>
          </p:nvPr>
        </p:nvSpPr>
        <p:spPr>
          <a:xfrm>
            <a:off x="548640" y="347472"/>
            <a:ext cx="11091672" cy="329184"/>
          </a:xfrm>
          <a:prstGeom prst="rect">
            <a:avLst/>
          </a:prstGeom>
          <a:noFill/>
          <a:ln/>
        </p:spPr>
        <p:txBody>
          <a:bodyPr wrap="square" lIns="0" tIns="0" rIns="0" bIns="0" rtlCol="0" anchor="ctr"/>
          <a:lstStyle/>
          <a:p>
            <a:pPr indent="0" marL="0">
              <a:buNone/>
            </a:pPr>
            <a:r>
              <a:rPr lang="en-US" sz="1400" b="1" spc="100" kern="0" dirty="0">
                <a:solidFill>
                  <a:schemeClr val="accent1"/>
                </a:solidFill>
              </a:rPr>
              <a:t>THEORY</a:t>
            </a:r>
            <a:endParaRPr lang="en-US" sz="1400" dirty="0"/>
          </a:p>
        </p:txBody>
      </p:sp>
      <p:sp>
        <p:nvSpPr>
          <p:cNvPr id="5" name="multistage panel"/>
          <p:cNvSpPr/>
          <p:nvPr/>
        </p:nvSpPr>
        <p:spPr>
          <a:xfrm>
            <a:off x="548640" y="1417320"/>
            <a:ext cx="11091672" cy="4807001"/>
          </a:xfrm>
          <a:prstGeom prst="roundRect">
            <a:avLst>
              <a:gd name="adj" fmla="val 1522"/>
            </a:avLst>
          </a:prstGeom>
          <a:solidFill>
            <a:schemeClr val="bg1"/>
          </a:solidFill>
          <a:ln w="9525">
            <a:solidFill>
              <a:schemeClr val="accent6"/>
            </a:solidFill>
            <a:prstDash val="solid"/>
          </a:ln>
        </p:spPr>
      </p:sp>
      <p:pic>
        <p:nvPicPr>
          <p:cNvPr id="6" name="multistage" descr="Build stages from base to production, with build tools discarded">    </p:cNvPr>
          <p:cNvPicPr>
            <a:picLocks noChangeAspect="1"/>
          </p:cNvPicPr>
          <p:nvPr/>
        </p:nvPicPr>
        <p:blipFill>
          <a:blip r:embed="rId1"/>
          <a:stretch>
            <a:fillRect/>
          </a:stretch>
        </p:blipFill>
        <p:spPr>
          <a:xfrm>
            <a:off x="676656" y="1545336"/>
            <a:ext cx="10835640" cy="4550969"/>
          </a:xfrm>
          <a:prstGeom prst="rect">
            <a:avLst/>
          </a:prstGeom>
        </p:spPr>
      </p:pic>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548640" y="658368"/>
            <a:ext cx="11091672" cy="658368"/>
          </a:xfrm>
          <a:prstGeom prst="rect">
            <a:avLst/>
          </a:prstGeom>
          <a:noFill/>
          <a:ln/>
        </p:spPr>
        <p:txBody>
          <a:bodyPr wrap="square" lIns="0" tIns="0" rIns="0" bIns="0" rtlCol="0" anchor="ctr"/>
          <a:lstStyle/>
          <a:p>
            <a:pPr algn="l" indent="0" marL="0">
              <a:buNone/>
            </a:pPr>
            <a:r>
              <a:rPr lang="en-US" sz="3000" b="1" dirty="0">
                <a:solidFill>
                  <a:schemeClr val="tx1"/>
                </a:solidFill>
              </a:rPr>
              <a:t>Two run-time details that catch teams out</a:t>
            </a:r>
            <a:endParaRPr lang="en-US" sz="3000" dirty="0"/>
          </a:p>
        </p:txBody>
      </p:sp>
      <p:sp>
        <p:nvSpPr>
          <p:cNvPr id="4" name="Text 0"/>
          <p:cNvSpPr/>
          <p:nvPr>
            <p:ph idx="100" type="body" hasCustomPrompt="1"/>
          </p:nvPr>
        </p:nvSpPr>
        <p:spPr>
          <a:xfrm>
            <a:off x="548640" y="347472"/>
            <a:ext cx="11091672" cy="329184"/>
          </a:xfrm>
          <a:prstGeom prst="rect">
            <a:avLst/>
          </a:prstGeom>
          <a:noFill/>
          <a:ln/>
        </p:spPr>
        <p:txBody>
          <a:bodyPr wrap="square" lIns="0" tIns="0" rIns="0" bIns="0" rtlCol="0" anchor="ctr"/>
          <a:lstStyle/>
          <a:p>
            <a:pPr indent="0" marL="0">
              <a:buNone/>
            </a:pPr>
            <a:r>
              <a:rPr lang="en-US" sz="1400" b="1" spc="100" kern="0" dirty="0">
                <a:solidFill>
                  <a:schemeClr val="accent1"/>
                </a:solidFill>
              </a:rPr>
              <a:t>THEORY</a:t>
            </a:r>
            <a:endParaRPr lang="en-US" sz="1400" dirty="0"/>
          </a:p>
        </p:txBody>
      </p:sp>
      <p:sp>
        <p:nvSpPr>
          <p:cNvPr id="5" name="Card: Signals"/>
          <p:cNvSpPr/>
          <p:nvPr/>
        </p:nvSpPr>
        <p:spPr>
          <a:xfrm>
            <a:off x="548640" y="1417320"/>
            <a:ext cx="5413248" cy="2926080"/>
          </a:xfrm>
          <a:prstGeom prst="roundRect">
            <a:avLst>
              <a:gd name="adj" fmla="val 2500"/>
            </a:avLst>
          </a:prstGeom>
          <a:solidFill>
            <a:schemeClr val="bg1"/>
          </a:solidFill>
          <a:ln w="9525">
            <a:solidFill>
              <a:schemeClr val="accent6"/>
            </a:solidFill>
          </a:ln>
        </p:spPr>
        <p:txBody>
          <a:bodyPr wrap="square" lIns="203200" tIns="203200" rIns="203200" bIns="203200" rtlCol="0" anchor="ctr"/>
          <a:lstStyle/>
          <a:p>
            <a:pPr algn="l" indent="0" marL="0">
              <a:spcAft>
                <a:spcPts val="800"/>
              </a:spcAft>
              <a:buNone/>
            </a:pPr>
            <a:r>
              <a:rPr lang="en-US" sz="2400" b="1" dirty="0">
                <a:solidFill>
                  <a:schemeClr val="tx1"/>
                </a:solidFill>
              </a:rPr>
              <a:t>Signals</a:t>
            </a:r>
            <a:endParaRPr lang="en-US" sz="2400" dirty="0"/>
          </a:p>
          <a:p>
            <a:pPr algn="l" indent="0" marL="0">
              <a:buNone/>
            </a:pPr>
            <a:r>
              <a:rPr lang="en-US" sz="2000" dirty="0">
                <a:solidFill>
                  <a:schemeClr val="accent4"/>
                </a:solidFill>
              </a:rPr>
              <a:t>docker stop sends SIGTERM, then SIGKILL after 10 seconds. Starting through npm can swallow the signal, so open requests get cut off.</a:t>
            </a:r>
            <a:endParaRPr lang="en-US" sz="2400" dirty="0"/>
          </a:p>
        </p:txBody>
      </p:sp>
      <p:sp>
        <p:nvSpPr>
          <p:cNvPr id="6" name="Card: Restart policies"/>
          <p:cNvSpPr/>
          <p:nvPr/>
        </p:nvSpPr>
        <p:spPr>
          <a:xfrm>
            <a:off x="6227064" y="1417320"/>
            <a:ext cx="5413248" cy="2926080"/>
          </a:xfrm>
          <a:prstGeom prst="roundRect">
            <a:avLst>
              <a:gd name="adj" fmla="val 2500"/>
            </a:avLst>
          </a:prstGeom>
          <a:solidFill>
            <a:schemeClr val="bg1"/>
          </a:solidFill>
          <a:ln w="9525">
            <a:solidFill>
              <a:schemeClr val="accent6"/>
            </a:solidFill>
          </a:ln>
        </p:spPr>
        <p:txBody>
          <a:bodyPr wrap="square" lIns="203200" tIns="203200" rIns="203200" bIns="203200" rtlCol="0" anchor="ctr"/>
          <a:lstStyle/>
          <a:p>
            <a:pPr algn="l" indent="0" marL="0">
              <a:spcAft>
                <a:spcPts val="800"/>
              </a:spcAft>
              <a:buNone/>
            </a:pPr>
            <a:r>
              <a:rPr lang="en-US" sz="2400" b="1" dirty="0">
                <a:solidFill>
                  <a:schemeClr val="tx1"/>
                </a:solidFill>
              </a:rPr>
              <a:t>Restart policies</a:t>
            </a:r>
            <a:endParaRPr lang="en-US" sz="2400" dirty="0"/>
          </a:p>
          <a:p>
            <a:pPr algn="l" indent="0" marL="0">
              <a:buNone/>
            </a:pPr>
            <a:r>
              <a:rPr lang="en-US" sz="2000" dirty="0">
                <a:solidFill>
                  <a:schemeClr val="accent4"/>
                </a:solidFill>
              </a:rPr>
              <a:t>They restart a process that exited by itself. A container stopped with docker stop or docker kill stays stopped, by design.</a:t>
            </a:r>
            <a:endParaRPr lang="en-US" sz="2400" dirty="0"/>
          </a:p>
        </p:txBody>
      </p:sp>
      <p:sp>
        <p:nvSpPr>
          <p:cNvPr id="7" name="Takeaway"/>
          <p:cNvSpPr txBox="1"/>
          <p:nvPr/>
        </p:nvSpPr>
        <p:spPr>
          <a:xfrm>
            <a:off x="548640" y="4572000"/>
            <a:ext cx="11091672" cy="594360"/>
          </a:xfrm>
          <a:prstGeom prst="rect">
            <a:avLst/>
          </a:prstGeom>
          <a:noFill/>
          <a:ln/>
        </p:spPr>
        <p:txBody>
          <a:bodyPr wrap="square" lIns="0" tIns="0" rIns="0" bIns="0" rtlCol="0" anchor="ctr"/>
          <a:lstStyle/>
          <a:p>
            <a:pPr algn="l" indent="0" marL="0">
              <a:buNone/>
            </a:pPr>
            <a:r>
              <a:rPr lang="en-US" sz="1800" dirty="0">
                <a:solidFill>
                  <a:schemeClr val="accent4"/>
                </a:solidFill>
              </a:rPr>
              <a:t>Docker can report a container as unhealthy, but on one host it does not replace it. That is an orchestrator’s job.</a:t>
            </a:r>
            <a:endParaRPr lang="en-US" sz="18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548640" y="658368"/>
            <a:ext cx="11091672" cy="658368"/>
          </a:xfrm>
          <a:prstGeom prst="rect">
            <a:avLst/>
          </a:prstGeom>
          <a:noFill/>
          <a:ln/>
        </p:spPr>
        <p:txBody>
          <a:bodyPr wrap="square" lIns="0" tIns="0" rIns="0" bIns="0" rtlCol="0" anchor="ctr"/>
          <a:lstStyle/>
          <a:p>
            <a:pPr algn="l" indent="0" marL="0">
              <a:buNone/>
            </a:pPr>
            <a:r>
              <a:rPr lang="en-US" sz="3000" b="1" dirty="0">
                <a:solidFill>
                  <a:schemeClr val="tx1"/>
                </a:solidFill>
              </a:rPr>
              <a:t>Kubernetes keeps reality equal to what you declared</a:t>
            </a:r>
            <a:endParaRPr lang="en-US" sz="3000" dirty="0"/>
          </a:p>
        </p:txBody>
      </p:sp>
      <p:sp>
        <p:nvSpPr>
          <p:cNvPr id="4" name="Text 0"/>
          <p:cNvSpPr/>
          <p:nvPr>
            <p:ph idx="100" type="body" hasCustomPrompt="1"/>
          </p:nvPr>
        </p:nvSpPr>
        <p:spPr>
          <a:xfrm>
            <a:off x="548640" y="347472"/>
            <a:ext cx="11091672" cy="329184"/>
          </a:xfrm>
          <a:prstGeom prst="rect">
            <a:avLst/>
          </a:prstGeom>
          <a:noFill/>
          <a:ln/>
        </p:spPr>
        <p:txBody>
          <a:bodyPr wrap="square" lIns="0" tIns="0" rIns="0" bIns="0" rtlCol="0" anchor="ctr"/>
          <a:lstStyle/>
          <a:p>
            <a:pPr indent="0" marL="0">
              <a:buNone/>
            </a:pPr>
            <a:r>
              <a:rPr lang="en-US" sz="1400" b="1" spc="100" kern="0" dirty="0">
                <a:solidFill>
                  <a:schemeClr val="accent1"/>
                </a:solidFill>
              </a:rPr>
              <a:t>THEORY</a:t>
            </a:r>
            <a:endParaRPr lang="en-US" sz="1400" dirty="0"/>
          </a:p>
        </p:txBody>
      </p:sp>
      <p:sp>
        <p:nvSpPr>
          <p:cNvPr id="5" name="k8s_arch panel"/>
          <p:cNvSpPr/>
          <p:nvPr/>
        </p:nvSpPr>
        <p:spPr>
          <a:xfrm>
            <a:off x="548640" y="1417320"/>
            <a:ext cx="7863840" cy="4364248"/>
          </a:xfrm>
          <a:prstGeom prst="roundRect">
            <a:avLst>
              <a:gd name="adj" fmla="val 1676"/>
            </a:avLst>
          </a:prstGeom>
          <a:solidFill>
            <a:schemeClr val="bg1"/>
          </a:solidFill>
          <a:ln w="9525">
            <a:solidFill>
              <a:schemeClr val="accent6"/>
            </a:solidFill>
            <a:prstDash val="solid"/>
          </a:ln>
        </p:spPr>
      </p:sp>
      <p:pic>
        <p:nvPicPr>
          <p:cNvPr id="6" name="k8s_arch" descr="Kubernetes control plane above three worker nodes">    </p:cNvPr>
          <p:cNvPicPr>
            <a:picLocks noChangeAspect="1"/>
          </p:cNvPicPr>
          <p:nvPr/>
        </p:nvPicPr>
        <p:blipFill>
          <a:blip r:embed="rId1"/>
          <a:stretch>
            <a:fillRect/>
          </a:stretch>
        </p:blipFill>
        <p:spPr>
          <a:xfrm>
            <a:off x="676656" y="1545336"/>
            <a:ext cx="7607808" cy="4108216"/>
          </a:xfrm>
          <a:prstGeom prst="rect">
            <a:avLst/>
          </a:prstGeom>
        </p:spPr>
      </p:pic>
      <p:sp>
        <p:nvSpPr>
          <p:cNvPr id="7" name="Key points"/>
          <p:cNvSpPr txBox="1"/>
          <p:nvPr/>
        </p:nvSpPr>
        <p:spPr>
          <a:xfrm>
            <a:off x="8641080" y="1417320"/>
            <a:ext cx="2999232" cy="4389120"/>
          </a:xfrm>
          <a:prstGeom prst="rect">
            <a:avLst/>
          </a:prstGeom>
          <a:noFill/>
          <a:ln/>
        </p:spPr>
        <p:txBody>
          <a:bodyPr wrap="square" lIns="0" tIns="0" rIns="0" bIns="0" rtlCol="0" anchor="ctr"/>
          <a:lstStyle/>
          <a:p>
            <a:pPr algn="l" marL="342900" indent="-342900">
              <a:spcAft>
                <a:spcPts val="1200"/>
              </a:spcAft>
              <a:buSzPct val="100000"/>
              <a:buChar char="•"/>
            </a:pPr>
            <a:r>
              <a:rPr lang="en-US" sz="2000" dirty="0">
                <a:solidFill>
                  <a:schemeClr val="accent4"/>
                </a:solidFill>
              </a:rPr>
              <a:t>Declare the state you want</a:t>
            </a:r>
            <a:endParaRPr lang="en-US" sz="2000" dirty="0"/>
          </a:p>
          <a:p>
            <a:pPr algn="l" marL="342900" indent="-342900">
              <a:spcAft>
                <a:spcPts val="1200"/>
              </a:spcAft>
              <a:buSzPct val="100000"/>
              <a:buChar char="•"/>
            </a:pPr>
            <a:r>
              <a:rPr lang="en-US" sz="2000" dirty="0">
                <a:solidFill>
                  <a:schemeClr val="accent4"/>
                </a:solidFill>
              </a:rPr>
              <a:t>Controllers fix any difference</a:t>
            </a:r>
            <a:endParaRPr lang="en-US" sz="2000" dirty="0"/>
          </a:p>
          <a:p>
            <a:pPr algn="l" marL="342900" indent="-342900">
              <a:spcAft>
                <a:spcPts val="1200"/>
              </a:spcAft>
              <a:buSzPct val="100000"/>
              <a:buChar char="•"/>
            </a:pPr>
            <a:r>
              <a:rPr lang="en-US" sz="2000" dirty="0">
                <a:solidFill>
                  <a:schemeClr val="accent4"/>
                </a:solidFill>
              </a:rPr>
              <a:t>Rolling updates, probes, autoscaling</a:t>
            </a:r>
            <a:endParaRPr lang="en-US" sz="20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548640" y="658368"/>
            <a:ext cx="11091672" cy="658368"/>
          </a:xfrm>
          <a:prstGeom prst="rect">
            <a:avLst/>
          </a:prstGeom>
          <a:noFill/>
          <a:ln/>
        </p:spPr>
        <p:txBody>
          <a:bodyPr wrap="square" lIns="0" tIns="0" rIns="0" bIns="0" rtlCol="0" anchor="ctr"/>
          <a:lstStyle/>
          <a:p>
            <a:pPr algn="l" indent="0" marL="0">
              <a:buNone/>
            </a:pPr>
            <a:r>
              <a:rPr lang="en-US" sz="3000" b="1" dirty="0">
                <a:solidFill>
                  <a:schemeClr val="tx1"/>
                </a:solidFill>
              </a:rPr>
              <a:t>A rolling update replaces Pods one at a time</a:t>
            </a:r>
            <a:endParaRPr lang="en-US" sz="3000" dirty="0"/>
          </a:p>
        </p:txBody>
      </p:sp>
      <p:sp>
        <p:nvSpPr>
          <p:cNvPr id="4" name="Text 0"/>
          <p:cNvSpPr/>
          <p:nvPr>
            <p:ph idx="100" type="body" hasCustomPrompt="1"/>
          </p:nvPr>
        </p:nvSpPr>
        <p:spPr>
          <a:xfrm>
            <a:off x="548640" y="347472"/>
            <a:ext cx="11091672" cy="329184"/>
          </a:xfrm>
          <a:prstGeom prst="rect">
            <a:avLst/>
          </a:prstGeom>
          <a:noFill/>
          <a:ln/>
        </p:spPr>
        <p:txBody>
          <a:bodyPr wrap="square" lIns="0" tIns="0" rIns="0" bIns="0" rtlCol="0" anchor="ctr"/>
          <a:lstStyle/>
          <a:p>
            <a:pPr indent="0" marL="0">
              <a:buNone/>
            </a:pPr>
            <a:r>
              <a:rPr lang="en-US" sz="1400" b="1" spc="100" kern="0" dirty="0">
                <a:solidFill>
                  <a:schemeClr val="accent1"/>
                </a:solidFill>
              </a:rPr>
              <a:t>THEORY</a:t>
            </a:r>
            <a:endParaRPr lang="en-US" sz="1400" dirty="0"/>
          </a:p>
        </p:txBody>
      </p:sp>
      <p:sp>
        <p:nvSpPr>
          <p:cNvPr id="5" name="rolling panel"/>
          <p:cNvSpPr/>
          <p:nvPr/>
        </p:nvSpPr>
        <p:spPr>
          <a:xfrm>
            <a:off x="548640" y="1417320"/>
            <a:ext cx="11091672" cy="3506724"/>
          </a:xfrm>
          <a:prstGeom prst="roundRect">
            <a:avLst>
              <a:gd name="adj" fmla="val 2086"/>
            </a:avLst>
          </a:prstGeom>
          <a:solidFill>
            <a:schemeClr val="bg1"/>
          </a:solidFill>
          <a:ln w="9525">
            <a:solidFill>
              <a:schemeClr val="accent6"/>
            </a:solidFill>
            <a:prstDash val="solid"/>
          </a:ln>
        </p:spPr>
      </p:sp>
      <p:pic>
        <p:nvPicPr>
          <p:cNvPr id="6" name="rolling" descr="Four steps of a rolling update from version 1 to version 2">    </p:cNvPr>
          <p:cNvPicPr>
            <a:picLocks noChangeAspect="1"/>
          </p:cNvPicPr>
          <p:nvPr/>
        </p:nvPicPr>
        <p:blipFill>
          <a:blip r:embed="rId1"/>
          <a:stretch>
            <a:fillRect/>
          </a:stretch>
        </p:blipFill>
        <p:spPr>
          <a:xfrm>
            <a:off x="676656" y="1545336"/>
            <a:ext cx="10835640" cy="3250692"/>
          </a:xfrm>
          <a:prstGeom prst="rect">
            <a:avLst/>
          </a:prstGeom>
        </p:spPr>
      </p:pic>
      <p:sp>
        <p:nvSpPr>
          <p:cNvPr id="7" name="Takeaway"/>
          <p:cNvSpPr txBox="1"/>
          <p:nvPr/>
        </p:nvSpPr>
        <p:spPr>
          <a:xfrm>
            <a:off x="548640" y="5152644"/>
            <a:ext cx="11091672" cy="594360"/>
          </a:xfrm>
          <a:prstGeom prst="rect">
            <a:avLst/>
          </a:prstGeom>
          <a:noFill/>
          <a:ln/>
        </p:spPr>
        <p:txBody>
          <a:bodyPr wrap="square" lIns="0" tIns="0" rIns="0" bIns="0" rtlCol="0" anchor="ctr"/>
          <a:lstStyle/>
          <a:p>
            <a:pPr algn="l" indent="0" marL="0">
              <a:buNone/>
            </a:pPr>
            <a:r>
              <a:rPr lang="en-US" sz="1800" dirty="0">
                <a:solidFill>
                  <a:schemeClr val="accent4"/>
                </a:solidFill>
              </a:rPr>
              <a:t>A new Pod must be ready before an old one leaves, and one command rolls the update back.</a:t>
            </a:r>
            <a:endParaRPr lang="en-US" sz="18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548640" y="658368"/>
            <a:ext cx="11091672" cy="658368"/>
          </a:xfrm>
          <a:prstGeom prst="rect">
            <a:avLst/>
          </a:prstGeom>
          <a:noFill/>
          <a:ln/>
        </p:spPr>
        <p:txBody>
          <a:bodyPr wrap="square" lIns="0" tIns="0" rIns="0" bIns="0" rtlCol="0" anchor="ctr"/>
          <a:lstStyle/>
          <a:p>
            <a:pPr algn="l" indent="0" marL="0">
              <a:buNone/>
            </a:pPr>
            <a:r>
              <a:rPr lang="en-US" sz="3000" b="1" dirty="0">
                <a:solidFill>
                  <a:schemeClr val="tx1"/>
                </a:solidFill>
              </a:rPr>
              <a:t>Containers and virtual machines isolate at different levels</a:t>
            </a:r>
            <a:endParaRPr lang="en-US" sz="3000" dirty="0"/>
          </a:p>
        </p:txBody>
      </p:sp>
      <p:sp>
        <p:nvSpPr>
          <p:cNvPr id="4" name="Text 0"/>
          <p:cNvSpPr/>
          <p:nvPr>
            <p:ph idx="100" type="body" hasCustomPrompt="1"/>
          </p:nvPr>
        </p:nvSpPr>
        <p:spPr>
          <a:xfrm>
            <a:off x="548640" y="347472"/>
            <a:ext cx="11091672" cy="329184"/>
          </a:xfrm>
          <a:prstGeom prst="rect">
            <a:avLst/>
          </a:prstGeom>
          <a:noFill/>
          <a:ln/>
        </p:spPr>
        <p:txBody>
          <a:bodyPr wrap="square" lIns="0" tIns="0" rIns="0" bIns="0" rtlCol="0" anchor="ctr"/>
          <a:lstStyle/>
          <a:p>
            <a:pPr indent="0" marL="0">
              <a:buNone/>
            </a:pPr>
            <a:r>
              <a:rPr lang="en-US" sz="1400" b="1" spc="100" kern="0" dirty="0">
                <a:solidFill>
                  <a:schemeClr val="accent1"/>
                </a:solidFill>
              </a:rPr>
              <a:t>COMPARISON</a:t>
            </a:r>
            <a:endParaRPr lang="en-US" sz="1400" dirty="0"/>
          </a:p>
        </p:txBody>
      </p:sp>
      <p:sp>
        <p:nvSpPr>
          <p:cNvPr id="5" name="vm_vs_container panel"/>
          <p:cNvSpPr/>
          <p:nvPr/>
        </p:nvSpPr>
        <p:spPr>
          <a:xfrm>
            <a:off x="548640" y="1417320"/>
            <a:ext cx="11091672" cy="4114800"/>
          </a:xfrm>
          <a:prstGeom prst="roundRect">
            <a:avLst>
              <a:gd name="adj" fmla="val 1778"/>
            </a:avLst>
          </a:prstGeom>
          <a:solidFill>
            <a:schemeClr val="bg1"/>
          </a:solidFill>
          <a:ln w="9525">
            <a:solidFill>
              <a:schemeClr val="accent6"/>
            </a:solidFill>
            <a:prstDash val="solid"/>
          </a:ln>
        </p:spPr>
      </p:sp>
      <p:pic>
        <p:nvPicPr>
          <p:cNvPr id="6" name="vm_vs_container" descr="Virtual machines with guest kernels beside containers sharing one kernel">    </p:cNvPr>
          <p:cNvPicPr>
            <a:picLocks noChangeAspect="1"/>
          </p:cNvPicPr>
          <p:nvPr/>
        </p:nvPicPr>
        <p:blipFill>
          <a:blip r:embed="rId1"/>
          <a:stretch>
            <a:fillRect/>
          </a:stretch>
        </p:blipFill>
        <p:spPr>
          <a:xfrm>
            <a:off x="1806956" y="1545336"/>
            <a:ext cx="8575040" cy="3858768"/>
          </a:xfrm>
          <a:prstGeom prst="rect">
            <a:avLst/>
          </a:prstGeom>
        </p:spPr>
      </p:pic>
      <p:sp>
        <p:nvSpPr>
          <p:cNvPr id="7" name="Takeaway"/>
          <p:cNvSpPr txBox="1"/>
          <p:nvPr/>
        </p:nvSpPr>
        <p:spPr>
          <a:xfrm>
            <a:off x="548640" y="5669280"/>
            <a:ext cx="11091672" cy="594360"/>
          </a:xfrm>
          <a:prstGeom prst="rect">
            <a:avLst/>
          </a:prstGeom>
          <a:noFill/>
          <a:ln/>
        </p:spPr>
        <p:txBody>
          <a:bodyPr wrap="square" lIns="0" tIns="0" rIns="0" bIns="0" rtlCol="0" anchor="ctr"/>
          <a:lstStyle/>
          <a:p>
            <a:pPr algn="l" indent="0" marL="0">
              <a:buNone/>
            </a:pPr>
            <a:r>
              <a:rPr lang="en-US" sz="1800" dirty="0">
                <a:solidFill>
                  <a:schemeClr val="accent4"/>
                </a:solidFill>
              </a:rPr>
              <a:t>Containers are fast and small. VMs isolate more strongly. Clouds usually run containers inside VMs.</a:t>
            </a:r>
            <a:endParaRPr lang="en-US" sz="18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548640" y="658368"/>
            <a:ext cx="11091672" cy="658368"/>
          </a:xfrm>
          <a:prstGeom prst="rect">
            <a:avLst/>
          </a:prstGeom>
          <a:noFill/>
          <a:ln/>
        </p:spPr>
        <p:txBody>
          <a:bodyPr wrap="square" lIns="0" tIns="0" rIns="0" bIns="0" rtlCol="0" anchor="ctr"/>
          <a:lstStyle/>
          <a:p>
            <a:pPr algn="l" indent="0" marL="0">
              <a:buNone/>
            </a:pPr>
            <a:r>
              <a:rPr lang="en-US" sz="3000" b="1" dirty="0">
                <a:solidFill>
                  <a:schemeClr val="tx1"/>
                </a:solidFill>
              </a:rPr>
              <a:t>Choose the orchestrator the problem needs</a:t>
            </a:r>
            <a:endParaRPr lang="en-US" sz="3000" dirty="0"/>
          </a:p>
        </p:txBody>
      </p:sp>
      <p:sp>
        <p:nvSpPr>
          <p:cNvPr id="4" name="Text 0"/>
          <p:cNvSpPr/>
          <p:nvPr>
            <p:ph idx="100" type="body" hasCustomPrompt="1"/>
          </p:nvPr>
        </p:nvSpPr>
        <p:spPr>
          <a:xfrm>
            <a:off x="548640" y="347472"/>
            <a:ext cx="11091672" cy="329184"/>
          </a:xfrm>
          <a:prstGeom prst="rect">
            <a:avLst/>
          </a:prstGeom>
          <a:noFill/>
          <a:ln/>
        </p:spPr>
        <p:txBody>
          <a:bodyPr wrap="square" lIns="0" tIns="0" rIns="0" bIns="0" rtlCol="0" anchor="ctr"/>
          <a:lstStyle/>
          <a:p>
            <a:pPr indent="0" marL="0">
              <a:buNone/>
            </a:pPr>
            <a:r>
              <a:rPr lang="en-US" sz="1400" b="1" spc="100" kern="0" dirty="0">
                <a:solidFill>
                  <a:schemeClr val="accent1"/>
                </a:solidFill>
              </a:rPr>
              <a:t>COMPARISON</a:t>
            </a:r>
            <a:endParaRPr lang="en-US" sz="14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2926080"/>
                <a:gridCol w="2560320"/>
                <a:gridCol w="2377440"/>
                <a:gridCol w="3227832"/>
              </a:tblGrid>
              <a:tr h="621792">
                <a:tc>
                  <a:txBody>
                    <a:bodyPr/>
                    <a:lstStyle/>
                    <a:p>
                      <a:pPr indent="0" marL="0">
                        <a:buNone/>
                      </a:pPr>
                      <a:endParaRPr lang="en-US" sz="18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accent1"/>
                    </a:solidFill>
                  </a:tcPr>
                </a:tc>
                <a:tc>
                  <a:txBody>
                    <a:bodyPr/>
                    <a:lstStyle/>
                    <a:p>
                      <a:pPr indent="0" marL="0">
                        <a:buNone/>
                      </a:pPr>
                      <a:r>
                        <a:rPr lang="en-US" sz="1800" b="1" dirty="0">
                          <a:solidFill>
                            <a:schemeClr val="bg1"/>
                          </a:solidFill>
                        </a:rPr>
                        <a:t>Compose</a:t>
                      </a:r>
                      <a:endParaRPr lang="en-US" sz="18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accent1"/>
                    </a:solidFill>
                  </a:tcPr>
                </a:tc>
                <a:tc>
                  <a:txBody>
                    <a:bodyPr/>
                    <a:lstStyle/>
                    <a:p>
                      <a:pPr indent="0" marL="0">
                        <a:buNone/>
                      </a:pPr>
                      <a:r>
                        <a:rPr lang="en-US" sz="1800" b="1" dirty="0">
                          <a:solidFill>
                            <a:schemeClr val="bg1"/>
                          </a:solidFill>
                        </a:rPr>
                        <a:t>Swarm</a:t>
                      </a:r>
                      <a:endParaRPr lang="en-US" sz="18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accent1"/>
                    </a:solidFill>
                  </a:tcPr>
                </a:tc>
                <a:tc>
                  <a:txBody>
                    <a:bodyPr/>
                    <a:lstStyle/>
                    <a:p>
                      <a:pPr indent="0" marL="0">
                        <a:buNone/>
                      </a:pPr>
                      <a:r>
                        <a:rPr lang="en-US" sz="1800" b="1" dirty="0">
                          <a:solidFill>
                            <a:schemeClr val="bg1"/>
                          </a:solidFill>
                        </a:rPr>
                        <a:t>Kubernetes</a:t>
                      </a:r>
                      <a:endParaRPr lang="en-US" sz="18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accent1"/>
                    </a:solidFill>
                  </a:tcPr>
                </a:tc>
              </a:tr>
              <a:tr h="621792">
                <a:tc>
                  <a:txBody>
                    <a:bodyPr/>
                    <a:lstStyle/>
                    <a:p>
                      <a:pPr indent="0" marL="0">
                        <a:buNone/>
                      </a:pPr>
                      <a:r>
                        <a:rPr lang="en-US" sz="1800" dirty="0">
                          <a:solidFill>
                            <a:schemeClr val="tx1"/>
                          </a:solidFill>
                        </a:rPr>
                        <a:t>Hosts</a:t>
                      </a:r>
                      <a:endParaRPr lang="en-US" sz="18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One</a:t>
                      </a:r>
                      <a:endParaRPr lang="en-US" sz="18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Many</a:t>
                      </a:r>
                      <a:endParaRPr lang="en-US" sz="18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Many</a:t>
                      </a:r>
                      <a:endParaRPr lang="en-US" sz="18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1"/>
                    </a:solidFill>
                  </a:tcPr>
                </a:tc>
              </a:tr>
              <a:tr h="621792">
                <a:tc>
                  <a:txBody>
                    <a:bodyPr/>
                    <a:lstStyle/>
                    <a:p>
                      <a:pPr indent="0" marL="0">
                        <a:buNone/>
                      </a:pPr>
                      <a:r>
                        <a:rPr lang="en-US" sz="1800" dirty="0">
                          <a:solidFill>
                            <a:schemeClr val="tx1"/>
                          </a:solidFill>
                        </a:rPr>
                        <a:t>Learning curve</a:t>
                      </a:r>
                      <a:endParaRPr lang="en-US" sz="18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Low</a:t>
                      </a:r>
                      <a:endParaRPr lang="en-US" sz="18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Low</a:t>
                      </a:r>
                      <a:endParaRPr lang="en-US" sz="18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High</a:t>
                      </a:r>
                      <a:endParaRPr lang="en-US" sz="18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2"/>
                    </a:solidFill>
                  </a:tcPr>
                </a:tc>
              </a:tr>
              <a:tr h="621792">
                <a:tc>
                  <a:txBody>
                    <a:bodyPr/>
                    <a:lstStyle/>
                    <a:p>
                      <a:pPr indent="0" marL="0">
                        <a:buNone/>
                      </a:pPr>
                      <a:r>
                        <a:rPr lang="en-US" sz="1800" dirty="0">
                          <a:solidFill>
                            <a:schemeClr val="tx1"/>
                          </a:solidFill>
                        </a:rPr>
                        <a:t>Self-healing</a:t>
                      </a:r>
                      <a:endParaRPr lang="en-US" sz="18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Restart on exit</a:t>
                      </a:r>
                      <a:endParaRPr lang="en-US" sz="18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Replaces tasks</a:t>
                      </a:r>
                      <a:endParaRPr lang="en-US" sz="18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Replaces and reschedules</a:t>
                      </a:r>
                      <a:endParaRPr lang="en-US" sz="18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1"/>
                    </a:solidFill>
                  </a:tcPr>
                </a:tc>
              </a:tr>
              <a:tr h="621792">
                <a:tc>
                  <a:txBody>
                    <a:bodyPr/>
                    <a:lstStyle/>
                    <a:p>
                      <a:pPr indent="0" marL="0">
                        <a:buNone/>
                      </a:pPr>
                      <a:r>
                        <a:rPr lang="en-US" sz="1800" dirty="0">
                          <a:solidFill>
                            <a:schemeClr val="tx1"/>
                          </a:solidFill>
                        </a:rPr>
                        <a:t>Rolling update</a:t>
                      </a:r>
                      <a:endParaRPr lang="en-US" sz="18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None built in</a:t>
                      </a:r>
                      <a:endParaRPr lang="en-US" sz="18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Yes</a:t>
                      </a:r>
                      <a:endParaRPr lang="en-US" sz="18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Yes, with rollback</a:t>
                      </a:r>
                      <a:endParaRPr lang="en-US" sz="18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2"/>
                    </a:solidFill>
                  </a:tcPr>
                </a:tc>
              </a:tr>
              <a:tr h="621792">
                <a:tc>
                  <a:txBody>
                    <a:bodyPr/>
                    <a:lstStyle/>
                    <a:p>
                      <a:pPr indent="0" marL="0">
                        <a:buNone/>
                      </a:pPr>
                      <a:r>
                        <a:rPr lang="en-US" sz="1800" dirty="0">
                          <a:solidFill>
                            <a:schemeClr val="tx1"/>
                          </a:solidFill>
                        </a:rPr>
                        <a:t>Autoscaling</a:t>
                      </a:r>
                      <a:endParaRPr lang="en-US" sz="18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Manual</a:t>
                      </a:r>
                      <a:endParaRPr lang="en-US" sz="18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Manual</a:t>
                      </a:r>
                      <a:endParaRPr lang="en-US" sz="18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Built in</a:t>
                      </a:r>
                      <a:endParaRPr lang="en-US" sz="18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1"/>
                    </a:solidFill>
                  </a:tcPr>
                </a:tc>
              </a:tr>
            </a:tbl>
          </a:graphicData>
        </a:graphic>
      </p:graphicFrame>
      <p:sp>
        <p:nvSpPr>
          <p:cNvPr id="6" name="Takeaway"/>
          <p:cNvSpPr txBox="1"/>
          <p:nvPr/>
        </p:nvSpPr>
        <p:spPr>
          <a:xfrm>
            <a:off x="548640" y="5349240"/>
            <a:ext cx="11091672" cy="594360"/>
          </a:xfrm>
          <a:prstGeom prst="rect">
            <a:avLst/>
          </a:prstGeom>
          <a:noFill/>
          <a:ln/>
        </p:spPr>
        <p:txBody>
          <a:bodyPr wrap="square" lIns="0" tIns="0" rIns="0" bIns="0" rtlCol="0" anchor="ctr"/>
          <a:lstStyle/>
          <a:p>
            <a:pPr algn="l" indent="0" marL="0">
              <a:buNone/>
            </a:pPr>
            <a:r>
              <a:rPr lang="en-US" sz="1800" dirty="0">
                <a:solidFill>
                  <a:schemeClr val="accent4"/>
                </a:solidFill>
              </a:rPr>
              <a:t>A small site is fine on Compose. Kubernetes pays off when you must survive losing a machine.</a:t>
            </a:r>
            <a:endParaRPr lang="en-US" sz="18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548640" y="658368"/>
            <a:ext cx="11091672" cy="658368"/>
          </a:xfrm>
          <a:prstGeom prst="rect">
            <a:avLst/>
          </a:prstGeom>
          <a:noFill/>
          <a:ln/>
        </p:spPr>
        <p:txBody>
          <a:bodyPr wrap="square" lIns="0" tIns="0" rIns="0" bIns="0" rtlCol="0" anchor="ctr"/>
          <a:lstStyle/>
          <a:p>
            <a:pPr algn="l" indent="0" marL="0">
              <a:buNone/>
            </a:pPr>
            <a:r>
              <a:rPr lang="en-US" sz="3000" b="1" dirty="0">
                <a:solidFill>
                  <a:schemeClr val="tx1"/>
                </a:solidFill>
              </a:rPr>
              <a:t>Seven kinds of container, one published port</a:t>
            </a:r>
            <a:endParaRPr lang="en-US" sz="3000" dirty="0"/>
          </a:p>
        </p:txBody>
      </p:sp>
      <p:sp>
        <p:nvSpPr>
          <p:cNvPr id="4" name="Text 0"/>
          <p:cNvSpPr/>
          <p:nvPr>
            <p:ph idx="100" type="body" hasCustomPrompt="1"/>
          </p:nvPr>
        </p:nvSpPr>
        <p:spPr>
          <a:xfrm>
            <a:off x="548640" y="347472"/>
            <a:ext cx="11091672" cy="329184"/>
          </a:xfrm>
          <a:prstGeom prst="rect">
            <a:avLst/>
          </a:prstGeom>
          <a:noFill/>
          <a:ln/>
        </p:spPr>
        <p:txBody>
          <a:bodyPr wrap="square" lIns="0" tIns="0" rIns="0" bIns="0" rtlCol="0" anchor="ctr"/>
          <a:lstStyle/>
          <a:p>
            <a:pPr indent="0" marL="0">
              <a:buNone/>
            </a:pPr>
            <a:r>
              <a:rPr lang="en-US" sz="1400" b="1" spc="100" kern="0" dirty="0">
                <a:solidFill>
                  <a:schemeClr val="accent1"/>
                </a:solidFill>
              </a:rPr>
              <a:t>DOCKMART</a:t>
            </a:r>
            <a:endParaRPr lang="en-US" sz="1400" dirty="0"/>
          </a:p>
        </p:txBody>
      </p:sp>
      <p:sp>
        <p:nvSpPr>
          <p:cNvPr id="5" name="architecture panel"/>
          <p:cNvSpPr/>
          <p:nvPr/>
        </p:nvSpPr>
        <p:spPr>
          <a:xfrm>
            <a:off x="548640" y="1417320"/>
            <a:ext cx="7132320" cy="4656856"/>
          </a:xfrm>
          <a:prstGeom prst="roundRect">
            <a:avLst>
              <a:gd name="adj" fmla="val 1571"/>
            </a:avLst>
          </a:prstGeom>
          <a:solidFill>
            <a:schemeClr val="bg1"/>
          </a:solidFill>
          <a:ln w="9525">
            <a:solidFill>
              <a:schemeClr val="accent6"/>
            </a:solidFill>
            <a:prstDash val="solid"/>
          </a:ln>
        </p:spPr>
      </p:sp>
      <p:pic>
        <p:nvPicPr>
          <p:cNvPr id="6" name="architecture" descr="DockMart architecture with gateway, web, API replicas, workers, PostgreSQL and Redis">    </p:cNvPr>
          <p:cNvPicPr>
            <a:picLocks noChangeAspect="1"/>
          </p:cNvPicPr>
          <p:nvPr/>
        </p:nvPicPr>
        <p:blipFill>
          <a:blip r:embed="rId1"/>
          <a:stretch>
            <a:fillRect/>
          </a:stretch>
        </p:blipFill>
        <p:spPr>
          <a:xfrm>
            <a:off x="676656" y="1545336"/>
            <a:ext cx="6876288" cy="4400824"/>
          </a:xfrm>
          <a:prstGeom prst="rect">
            <a:avLst/>
          </a:prstGeom>
        </p:spPr>
      </p:pic>
      <p:sp>
        <p:nvSpPr>
          <p:cNvPr id="7" name="Key points"/>
          <p:cNvSpPr txBox="1"/>
          <p:nvPr/>
        </p:nvSpPr>
        <p:spPr>
          <a:xfrm>
            <a:off x="8001000" y="1417320"/>
            <a:ext cx="3639312" cy="4892040"/>
          </a:xfrm>
          <a:prstGeom prst="rect">
            <a:avLst/>
          </a:prstGeom>
          <a:noFill/>
          <a:ln/>
        </p:spPr>
        <p:txBody>
          <a:bodyPr wrap="square" lIns="0" tIns="0" rIns="0" bIns="0" rtlCol="0" anchor="ctr"/>
          <a:lstStyle/>
          <a:p>
            <a:pPr algn="l" marL="342900" indent="-342900">
              <a:spcAft>
                <a:spcPts val="1200"/>
              </a:spcAft>
              <a:buSzPct val="100000"/>
              <a:buChar char="•"/>
            </a:pPr>
            <a:r>
              <a:rPr lang="en-US" sz="2000" dirty="0">
                <a:solidFill>
                  <a:schemeClr val="accent4"/>
                </a:solidFill>
              </a:rPr>
              <a:t>API is stateless, so it can scale</a:t>
            </a:r>
            <a:endParaRPr lang="en-US" sz="2000" dirty="0"/>
          </a:p>
          <a:p>
            <a:pPr algn="l" marL="342900" indent="-342900">
              <a:spcAft>
                <a:spcPts val="1200"/>
              </a:spcAft>
              <a:buSzPct val="100000"/>
              <a:buChar char="•"/>
            </a:pPr>
            <a:r>
              <a:rPr lang="en-US" sz="2000" dirty="0">
                <a:solidFill>
                  <a:schemeClr val="accent4"/>
                </a:solidFill>
              </a:rPr>
              <a:t>One image, three commands</a:t>
            </a:r>
            <a:endParaRPr lang="en-US" sz="2000" dirty="0"/>
          </a:p>
          <a:p>
            <a:pPr algn="l" marL="342900" indent="-342900">
              <a:spcAft>
                <a:spcPts val="1200"/>
              </a:spcAft>
              <a:buSzPct val="100000"/>
              <a:buChar char="•"/>
            </a:pPr>
            <a:r>
              <a:rPr lang="en-US" sz="2000" dirty="0">
                <a:solidFill>
                  <a:schemeClr val="accent4"/>
                </a:solidFill>
              </a:rPr>
              <a:t>Databases sit on an internal network</a:t>
            </a:r>
            <a:endParaRPr lang="en-US" sz="20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548640" y="658368"/>
            <a:ext cx="11091672" cy="658368"/>
          </a:xfrm>
          <a:prstGeom prst="rect">
            <a:avLst/>
          </a:prstGeom>
          <a:noFill/>
          <a:ln/>
        </p:spPr>
        <p:txBody>
          <a:bodyPr wrap="square" lIns="0" tIns="0" rIns="0" bIns="0" rtlCol="0" anchor="ctr"/>
          <a:lstStyle/>
          <a:p>
            <a:pPr algn="l" indent="0" marL="0">
              <a:buNone/>
            </a:pPr>
            <a:r>
              <a:rPr lang="en-US" sz="3000" b="1" dirty="0">
                <a:solidFill>
                  <a:schemeClr val="tx1"/>
                </a:solidFill>
              </a:rPr>
              <a:t>One order crosses every container</a:t>
            </a:r>
            <a:endParaRPr lang="en-US" sz="3000" dirty="0"/>
          </a:p>
        </p:txBody>
      </p:sp>
      <p:sp>
        <p:nvSpPr>
          <p:cNvPr id="4" name="Text 0"/>
          <p:cNvSpPr/>
          <p:nvPr>
            <p:ph idx="100" type="body" hasCustomPrompt="1"/>
          </p:nvPr>
        </p:nvSpPr>
        <p:spPr>
          <a:xfrm>
            <a:off x="548640" y="347472"/>
            <a:ext cx="11091672" cy="329184"/>
          </a:xfrm>
          <a:prstGeom prst="rect">
            <a:avLst/>
          </a:prstGeom>
          <a:noFill/>
          <a:ln/>
        </p:spPr>
        <p:txBody>
          <a:bodyPr wrap="square" lIns="0" tIns="0" rIns="0" bIns="0" rtlCol="0" anchor="ctr"/>
          <a:lstStyle/>
          <a:p>
            <a:pPr indent="0" marL="0">
              <a:buNone/>
            </a:pPr>
            <a:r>
              <a:rPr lang="en-US" sz="1400" b="1" spc="100" kern="0" dirty="0">
                <a:solidFill>
                  <a:schemeClr val="accent1"/>
                </a:solidFill>
              </a:rPr>
              <a:t>DOCKMART</a:t>
            </a:r>
            <a:endParaRPr lang="en-US" sz="1400" dirty="0"/>
          </a:p>
        </p:txBody>
      </p:sp>
      <p:sp>
        <p:nvSpPr>
          <p:cNvPr id="5" name="sequence panel"/>
          <p:cNvSpPr/>
          <p:nvPr/>
        </p:nvSpPr>
        <p:spPr>
          <a:xfrm>
            <a:off x="548640" y="1417320"/>
            <a:ext cx="7132320" cy="4656856"/>
          </a:xfrm>
          <a:prstGeom prst="roundRect">
            <a:avLst>
              <a:gd name="adj" fmla="val 1571"/>
            </a:avLst>
          </a:prstGeom>
          <a:solidFill>
            <a:schemeClr val="bg1"/>
          </a:solidFill>
          <a:ln w="9525">
            <a:solidFill>
              <a:schemeClr val="accent6"/>
            </a:solidFill>
            <a:prstDash val="solid"/>
          </a:ln>
        </p:spPr>
      </p:sp>
      <p:pic>
        <p:nvPicPr>
          <p:cNvPr id="6" name="sequence" descr="Sequence diagram of an order from checkout to the live status update">    </p:cNvPr>
          <p:cNvPicPr>
            <a:picLocks noChangeAspect="1"/>
          </p:cNvPicPr>
          <p:nvPr/>
        </p:nvPicPr>
        <p:blipFill>
          <a:blip r:embed="rId1"/>
          <a:stretch>
            <a:fillRect/>
          </a:stretch>
        </p:blipFill>
        <p:spPr>
          <a:xfrm>
            <a:off x="676656" y="1545336"/>
            <a:ext cx="6876288" cy="4400824"/>
          </a:xfrm>
          <a:prstGeom prst="rect">
            <a:avLst/>
          </a:prstGeom>
        </p:spPr>
      </p:pic>
      <p:sp>
        <p:nvSpPr>
          <p:cNvPr id="7" name="Key points"/>
          <p:cNvSpPr txBox="1"/>
          <p:nvPr/>
        </p:nvSpPr>
        <p:spPr>
          <a:xfrm>
            <a:off x="8001000" y="1417320"/>
            <a:ext cx="3639312" cy="4892040"/>
          </a:xfrm>
          <a:prstGeom prst="rect">
            <a:avLst/>
          </a:prstGeom>
          <a:noFill/>
          <a:ln/>
        </p:spPr>
        <p:txBody>
          <a:bodyPr wrap="square" lIns="0" tIns="0" rIns="0" bIns="0" rtlCol="0" anchor="ctr"/>
          <a:lstStyle/>
          <a:p>
            <a:pPr algn="l" marL="342900" indent="-342900">
              <a:spcAft>
                <a:spcPts val="1200"/>
              </a:spcAft>
              <a:buSzPct val="100000"/>
              <a:buChar char="•"/>
            </a:pPr>
            <a:r>
              <a:rPr lang="en-US" sz="2000" dirty="0">
                <a:solidFill>
                  <a:schemeClr val="accent4"/>
                </a:solidFill>
              </a:rPr>
              <a:t>Stock locked in a transaction</a:t>
            </a:r>
            <a:endParaRPr lang="en-US" sz="2000" dirty="0"/>
          </a:p>
          <a:p>
            <a:pPr algn="l" marL="342900" indent="-342900">
              <a:spcAft>
                <a:spcPts val="1200"/>
              </a:spcAft>
              <a:buSzPct val="100000"/>
              <a:buChar char="•"/>
            </a:pPr>
            <a:r>
              <a:rPr lang="en-US" sz="2000" dirty="0">
                <a:solidFill>
                  <a:schemeClr val="accent4"/>
                </a:solidFill>
              </a:rPr>
              <a:t>Worker handles it in the background</a:t>
            </a:r>
            <a:endParaRPr lang="en-US" sz="2000" dirty="0"/>
          </a:p>
          <a:p>
            <a:pPr algn="l" marL="342900" indent="-342900">
              <a:spcAft>
                <a:spcPts val="1200"/>
              </a:spcAft>
              <a:buSzPct val="100000"/>
              <a:buChar char="•"/>
            </a:pPr>
            <a:r>
              <a:rPr lang="en-US" sz="2000" dirty="0">
                <a:solidFill>
                  <a:schemeClr val="accent4"/>
                </a:solidFill>
              </a:rPr>
              <a:t>Status reaches the browser live</a:t>
            </a:r>
            <a:endParaRPr lang="en-US" sz="20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548640" y="658368"/>
            <a:ext cx="11091672" cy="658368"/>
          </a:xfrm>
          <a:prstGeom prst="rect">
            <a:avLst/>
          </a:prstGeom>
          <a:noFill/>
          <a:ln/>
        </p:spPr>
        <p:txBody>
          <a:bodyPr wrap="square" lIns="0" tIns="0" rIns="0" bIns="0" rtlCol="0" anchor="ctr"/>
          <a:lstStyle/>
          <a:p>
            <a:pPr algn="l" indent="0" marL="0">
              <a:buNone/>
            </a:pPr>
            <a:r>
              <a:rPr lang="en-US" sz="3000" b="1" dirty="0">
                <a:solidFill>
                  <a:schemeClr val="tx1"/>
                </a:solidFill>
              </a:rPr>
              <a:t>Statelessness is what makes scaling possible</a:t>
            </a:r>
            <a:endParaRPr lang="en-US" sz="3000" dirty="0"/>
          </a:p>
        </p:txBody>
      </p:sp>
      <p:sp>
        <p:nvSpPr>
          <p:cNvPr id="4" name="Text 0"/>
          <p:cNvSpPr/>
          <p:nvPr>
            <p:ph idx="100" type="body" hasCustomPrompt="1"/>
          </p:nvPr>
        </p:nvSpPr>
        <p:spPr>
          <a:xfrm>
            <a:off x="548640" y="347472"/>
            <a:ext cx="11091672" cy="329184"/>
          </a:xfrm>
          <a:prstGeom prst="rect">
            <a:avLst/>
          </a:prstGeom>
          <a:noFill/>
          <a:ln/>
        </p:spPr>
        <p:txBody>
          <a:bodyPr wrap="square" lIns="0" tIns="0" rIns="0" bIns="0" rtlCol="0" anchor="ctr"/>
          <a:lstStyle/>
          <a:p>
            <a:pPr indent="0" marL="0">
              <a:buNone/>
            </a:pPr>
            <a:r>
              <a:rPr lang="en-US" sz="1400" b="1" spc="100" kern="0" dirty="0">
                <a:solidFill>
                  <a:schemeClr val="accent1"/>
                </a:solidFill>
              </a:rPr>
              <a:t>DOCKMART</a:t>
            </a:r>
            <a:endParaRPr lang="en-US" sz="1400" dirty="0"/>
          </a:p>
        </p:txBody>
      </p:sp>
      <p:graphicFrame>
        <p:nvGraphicFramePr>
          <p:cNvPr id="17" name="Table"/>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3474720"/>
                <a:gridCol w="2926080"/>
                <a:gridCol w="4690872"/>
              </a:tblGrid>
              <a:tr h="713232">
                <a:tc>
                  <a:txBody>
                    <a:bodyPr/>
                    <a:lstStyle/>
                    <a:p>
                      <a:pPr indent="0" marL="0">
                        <a:buNone/>
                      </a:pPr>
                      <a:r>
                        <a:rPr lang="en-US" sz="2000" b="1" dirty="0">
                          <a:solidFill>
                            <a:schemeClr val="bg1"/>
                          </a:solidFill>
                        </a:rPr>
                        <a:t>State</a:t>
                      </a:r>
                      <a:endParaRPr lang="en-US" sz="20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accent1"/>
                    </a:solidFill>
                  </a:tcPr>
                </a:tc>
                <a:tc>
                  <a:txBody>
                    <a:bodyPr/>
                    <a:lstStyle/>
                    <a:p>
                      <a:pPr indent="0" marL="0">
                        <a:buNone/>
                      </a:pPr>
                      <a:r>
                        <a:rPr lang="en-US" sz="2000" b="1" dirty="0">
                          <a:solidFill>
                            <a:schemeClr val="bg1"/>
                          </a:solidFill>
                        </a:rPr>
                        <a:t>Usual place</a:t>
                      </a:r>
                      <a:endParaRPr lang="en-US" sz="20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accent1"/>
                    </a:solidFill>
                  </a:tcPr>
                </a:tc>
                <a:tc>
                  <a:txBody>
                    <a:bodyPr/>
                    <a:lstStyle/>
                    <a:p>
                      <a:pPr indent="0" marL="0">
                        <a:buNone/>
                      </a:pPr>
                      <a:r>
                        <a:rPr lang="en-US" sz="2000" b="1" dirty="0">
                          <a:solidFill>
                            <a:schemeClr val="bg1"/>
                          </a:solidFill>
                        </a:rPr>
                        <a:t>DockMart</a:t>
                      </a:r>
                      <a:endParaRPr lang="en-US" sz="20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accent1"/>
                    </a:solidFill>
                  </a:tcPr>
                </a:tc>
              </a:tr>
              <a:tr h="713232">
                <a:tc>
                  <a:txBody>
                    <a:bodyPr/>
                    <a:lstStyle/>
                    <a:p>
                      <a:pPr indent="0" marL="0">
                        <a:buNone/>
                      </a:pPr>
                      <a:r>
                        <a:rPr lang="en-US" sz="2000" dirty="0">
                          <a:solidFill>
                            <a:schemeClr val="tx1"/>
                          </a:solidFill>
                        </a:rPr>
                        <a:t>User session</a:t>
                      </a:r>
                      <a:endParaRPr lang="en-US" sz="20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1"/>
                    </a:solidFill>
                  </a:tcPr>
                </a:tc>
                <a:tc>
                  <a:txBody>
                    <a:bodyPr/>
                    <a:lstStyle/>
                    <a:p>
                      <a:pPr indent="0" marL="0">
                        <a:buNone/>
                      </a:pPr>
                      <a:r>
                        <a:rPr lang="en-US" sz="2000" dirty="0">
                          <a:solidFill>
                            <a:schemeClr val="tx1"/>
                          </a:solidFill>
                        </a:rPr>
                        <a:t>Server memory</a:t>
                      </a:r>
                      <a:endParaRPr lang="en-US" sz="20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1"/>
                    </a:solidFill>
                  </a:tcPr>
                </a:tc>
                <a:tc>
                  <a:txBody>
                    <a:bodyPr/>
                    <a:lstStyle/>
                    <a:p>
                      <a:pPr indent="0" marL="0">
                        <a:buNone/>
                      </a:pPr>
                      <a:r>
                        <a:rPr lang="en-US" sz="2000" dirty="0">
                          <a:solidFill>
                            <a:schemeClr val="tx1"/>
                          </a:solidFill>
                        </a:rPr>
                        <a:t>Signed JWT in a cookie</a:t>
                      </a:r>
                      <a:endParaRPr lang="en-US" sz="20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1"/>
                    </a:solidFill>
                  </a:tcPr>
                </a:tc>
              </a:tr>
              <a:tr h="713232">
                <a:tc>
                  <a:txBody>
                    <a:bodyPr/>
                    <a:lstStyle/>
                    <a:p>
                      <a:pPr indent="0" marL="0">
                        <a:buNone/>
                      </a:pPr>
                      <a:r>
                        <a:rPr lang="en-US" sz="2000" dirty="0">
                          <a:solidFill>
                            <a:schemeClr val="tx1"/>
                          </a:solidFill>
                        </a:rPr>
                        <a:t>Cached products</a:t>
                      </a:r>
                      <a:endParaRPr lang="en-US" sz="20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2"/>
                    </a:solidFill>
                  </a:tcPr>
                </a:tc>
                <a:tc>
                  <a:txBody>
                    <a:bodyPr/>
                    <a:lstStyle/>
                    <a:p>
                      <a:pPr indent="0" marL="0">
                        <a:buNone/>
                      </a:pPr>
                      <a:r>
                        <a:rPr lang="en-US" sz="2000" dirty="0">
                          <a:solidFill>
                            <a:schemeClr val="tx1"/>
                          </a:solidFill>
                        </a:rPr>
                        <a:t>A variable</a:t>
                      </a:r>
                      <a:endParaRPr lang="en-US" sz="20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2"/>
                    </a:solidFill>
                  </a:tcPr>
                </a:tc>
                <a:tc>
                  <a:txBody>
                    <a:bodyPr/>
                    <a:lstStyle/>
                    <a:p>
                      <a:pPr indent="0" marL="0">
                        <a:buNone/>
                      </a:pPr>
                      <a:r>
                        <a:rPr lang="en-US" sz="2000" dirty="0">
                          <a:solidFill>
                            <a:schemeClr val="tx1"/>
                          </a:solidFill>
                        </a:rPr>
                        <a:t>Redis, shared by replicas</a:t>
                      </a:r>
                      <a:endParaRPr lang="en-US" sz="20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2"/>
                    </a:solidFill>
                  </a:tcPr>
                </a:tc>
              </a:tr>
              <a:tr h="713232">
                <a:tc>
                  <a:txBody>
                    <a:bodyPr/>
                    <a:lstStyle/>
                    <a:p>
                      <a:pPr indent="0" marL="0">
                        <a:buNone/>
                      </a:pPr>
                      <a:r>
                        <a:rPr lang="en-US" sz="2000" dirty="0">
                          <a:solidFill>
                            <a:schemeClr val="tx1"/>
                          </a:solidFill>
                        </a:rPr>
                        <a:t>Live connections</a:t>
                      </a:r>
                      <a:endParaRPr lang="en-US" sz="20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1"/>
                    </a:solidFill>
                  </a:tcPr>
                </a:tc>
                <a:tc>
                  <a:txBody>
                    <a:bodyPr/>
                    <a:lstStyle/>
                    <a:p>
                      <a:pPr indent="0" marL="0">
                        <a:buNone/>
                      </a:pPr>
                      <a:r>
                        <a:rPr lang="en-US" sz="2000" dirty="0">
                          <a:solidFill>
                            <a:schemeClr val="tx1"/>
                          </a:solidFill>
                        </a:rPr>
                        <a:t>One process</a:t>
                      </a:r>
                      <a:endParaRPr lang="en-US" sz="20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1"/>
                    </a:solidFill>
                  </a:tcPr>
                </a:tc>
                <a:tc>
                  <a:txBody>
                    <a:bodyPr/>
                    <a:lstStyle/>
                    <a:p>
                      <a:pPr indent="0" marL="0">
                        <a:buNone/>
                      </a:pPr>
                      <a:r>
                        <a:rPr lang="en-US" sz="2000" dirty="0">
                          <a:solidFill>
                            <a:schemeClr val="tx1"/>
                          </a:solidFill>
                        </a:rPr>
                        <a:t>Redis pub/sub</a:t>
                      </a:r>
                      <a:endParaRPr lang="en-US" sz="20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1"/>
                    </a:solidFill>
                  </a:tcPr>
                </a:tc>
              </a:tr>
              <a:tr h="713232">
                <a:tc>
                  <a:txBody>
                    <a:bodyPr/>
                    <a:lstStyle/>
                    <a:p>
                      <a:pPr indent="0" marL="0">
                        <a:buNone/>
                      </a:pPr>
                      <a:r>
                        <a:rPr lang="en-US" sz="2000" dirty="0">
                          <a:solidFill>
                            <a:schemeClr val="tx1"/>
                          </a:solidFill>
                        </a:rPr>
                        <a:t>Background jobs</a:t>
                      </a:r>
                      <a:endParaRPr lang="en-US" sz="20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2"/>
                    </a:solidFill>
                  </a:tcPr>
                </a:tc>
                <a:tc>
                  <a:txBody>
                    <a:bodyPr/>
                    <a:lstStyle/>
                    <a:p>
                      <a:pPr indent="0" marL="0">
                        <a:buNone/>
                      </a:pPr>
                      <a:r>
                        <a:rPr lang="en-US" sz="2000" dirty="0">
                          <a:solidFill>
                            <a:schemeClr val="tx1"/>
                          </a:solidFill>
                        </a:rPr>
                        <a:t>A timer</a:t>
                      </a:r>
                      <a:endParaRPr lang="en-US" sz="20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2"/>
                    </a:solidFill>
                  </a:tcPr>
                </a:tc>
                <a:tc>
                  <a:txBody>
                    <a:bodyPr/>
                    <a:lstStyle/>
                    <a:p>
                      <a:pPr indent="0" marL="0">
                        <a:buNone/>
                      </a:pPr>
                      <a:r>
                        <a:rPr lang="en-US" sz="2000" dirty="0">
                          <a:solidFill>
                            <a:schemeClr val="tx1"/>
                          </a:solidFill>
                        </a:rPr>
                        <a:t>BullMQ queue</a:t>
                      </a:r>
                      <a:endParaRPr lang="en-US" sz="20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2"/>
                    </a:solidFill>
                  </a:tcPr>
                </a:tc>
              </a:tr>
              <a:tr h="713232">
                <a:tc>
                  <a:txBody>
                    <a:bodyPr/>
                    <a:lstStyle/>
                    <a:p>
                      <a:pPr indent="0" marL="0">
                        <a:buNone/>
                      </a:pPr>
                      <a:r>
                        <a:rPr lang="en-US" sz="2000" dirty="0">
                          <a:solidFill>
                            <a:schemeClr val="tx1"/>
                          </a:solidFill>
                        </a:rPr>
                        <a:t>Business data</a:t>
                      </a:r>
                      <a:endParaRPr lang="en-US" sz="20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1"/>
                    </a:solidFill>
                  </a:tcPr>
                </a:tc>
                <a:tc>
                  <a:txBody>
                    <a:bodyPr/>
                    <a:lstStyle/>
                    <a:p>
                      <a:pPr indent="0" marL="0">
                        <a:buNone/>
                      </a:pPr>
                      <a:r>
                        <a:rPr lang="en-US" sz="2000" dirty="0">
                          <a:solidFill>
                            <a:schemeClr val="tx1"/>
                          </a:solidFill>
                        </a:rPr>
                        <a:t>Local file</a:t>
                      </a:r>
                      <a:endParaRPr lang="en-US" sz="20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1"/>
                    </a:solidFill>
                  </a:tcPr>
                </a:tc>
                <a:tc>
                  <a:txBody>
                    <a:bodyPr/>
                    <a:lstStyle/>
                    <a:p>
                      <a:pPr indent="0" marL="0">
                        <a:buNone/>
                      </a:pPr>
                      <a:r>
                        <a:rPr lang="en-US" sz="2000" dirty="0">
                          <a:solidFill>
                            <a:schemeClr val="tx1"/>
                          </a:solidFill>
                        </a:rPr>
                        <a:t>PostgreSQL volume</a:t>
                      </a:r>
                      <a:endParaRPr lang="en-US" sz="20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548640" y="658368"/>
            <a:ext cx="11091672" cy="658368"/>
          </a:xfrm>
          <a:prstGeom prst="rect">
            <a:avLst/>
          </a:prstGeom>
          <a:noFill/>
          <a:ln/>
        </p:spPr>
        <p:txBody>
          <a:bodyPr wrap="square" lIns="0" tIns="0" rIns="0" bIns="0" rtlCol="0" anchor="ctr"/>
          <a:lstStyle/>
          <a:p>
            <a:pPr algn="l" indent="0" marL="0">
              <a:buNone/>
            </a:pPr>
            <a:r>
              <a:rPr lang="en-US" sz="3000" b="1" dirty="0">
                <a:solidFill>
                  <a:schemeClr val="tx1"/>
                </a:solidFill>
              </a:rPr>
              <a:t>Hardening every container</a:t>
            </a:r>
            <a:endParaRPr lang="en-US" sz="3000" dirty="0"/>
          </a:p>
        </p:txBody>
      </p:sp>
      <p:sp>
        <p:nvSpPr>
          <p:cNvPr id="4" name="Text 0"/>
          <p:cNvSpPr/>
          <p:nvPr>
            <p:ph idx="100" type="body" hasCustomPrompt="1"/>
          </p:nvPr>
        </p:nvSpPr>
        <p:spPr>
          <a:xfrm>
            <a:off x="548640" y="347472"/>
            <a:ext cx="11091672" cy="329184"/>
          </a:xfrm>
          <a:prstGeom prst="rect">
            <a:avLst/>
          </a:prstGeom>
          <a:noFill/>
          <a:ln/>
        </p:spPr>
        <p:txBody>
          <a:bodyPr wrap="square" lIns="0" tIns="0" rIns="0" bIns="0" rtlCol="0" anchor="ctr"/>
          <a:lstStyle/>
          <a:p>
            <a:pPr indent="0" marL="0">
              <a:buNone/>
            </a:pPr>
            <a:r>
              <a:rPr lang="en-US" sz="1400" b="1" spc="100" kern="0" dirty="0">
                <a:solidFill>
                  <a:schemeClr val="accent1"/>
                </a:solidFill>
              </a:rPr>
              <a:t>DOCKMART</a:t>
            </a:r>
            <a:endParaRPr lang="en-US" sz="1400" dirty="0"/>
          </a:p>
        </p:txBody>
      </p:sp>
      <p:sp>
        <p:nvSpPr>
          <p:cNvPr id="5" name="Card: Non-root"/>
          <p:cNvSpPr/>
          <p:nvPr/>
        </p:nvSpPr>
        <p:spPr>
          <a:xfrm>
            <a:off x="548640" y="1417320"/>
            <a:ext cx="3575304" cy="2240280"/>
          </a:xfrm>
          <a:prstGeom prst="roundRect">
            <a:avLst>
              <a:gd name="adj" fmla="val 3265"/>
            </a:avLst>
          </a:prstGeom>
          <a:solidFill>
            <a:schemeClr val="bg1"/>
          </a:solidFill>
          <a:ln w="9525">
            <a:solidFill>
              <a:schemeClr val="accent6"/>
            </a:solidFill>
          </a:ln>
        </p:spPr>
        <p:txBody>
          <a:bodyPr wrap="square" lIns="203200" tIns="203200" rIns="203200" bIns="203200" rtlCol="0" anchor="ctr"/>
          <a:lstStyle/>
          <a:p>
            <a:pPr algn="l" indent="0" marL="0">
              <a:spcAft>
                <a:spcPts val="800"/>
              </a:spcAft>
              <a:buNone/>
            </a:pPr>
            <a:r>
              <a:rPr lang="en-US" sz="2400" b="1" dirty="0">
                <a:solidFill>
                  <a:schemeClr val="tx1"/>
                </a:solidFill>
              </a:rPr>
              <a:t>Non-root</a:t>
            </a:r>
            <a:endParaRPr lang="en-US" sz="2400" dirty="0"/>
          </a:p>
          <a:p>
            <a:pPr algn="l" indent="0" marL="0">
              <a:buNone/>
            </a:pPr>
            <a:r>
              <a:rPr lang="en-US" sz="2000" dirty="0">
                <a:solidFill>
                  <a:schemeClr val="accent4"/>
                </a:solidFill>
              </a:rPr>
              <a:t>USER node in the image</a:t>
            </a:r>
            <a:endParaRPr lang="en-US" sz="2400" dirty="0"/>
          </a:p>
        </p:txBody>
      </p:sp>
      <p:sp>
        <p:nvSpPr>
          <p:cNvPr id="6" name="Card: Read-only"/>
          <p:cNvSpPr/>
          <p:nvPr/>
        </p:nvSpPr>
        <p:spPr>
          <a:xfrm>
            <a:off x="4306824" y="1417320"/>
            <a:ext cx="3575304" cy="2240280"/>
          </a:xfrm>
          <a:prstGeom prst="roundRect">
            <a:avLst>
              <a:gd name="adj" fmla="val 3265"/>
            </a:avLst>
          </a:prstGeom>
          <a:solidFill>
            <a:schemeClr val="bg1"/>
          </a:solidFill>
          <a:ln w="9525">
            <a:solidFill>
              <a:schemeClr val="accent6"/>
            </a:solidFill>
          </a:ln>
        </p:spPr>
        <p:txBody>
          <a:bodyPr wrap="square" lIns="203200" tIns="203200" rIns="203200" bIns="203200" rtlCol="0" anchor="ctr"/>
          <a:lstStyle/>
          <a:p>
            <a:pPr algn="l" indent="0" marL="0">
              <a:spcAft>
                <a:spcPts val="800"/>
              </a:spcAft>
              <a:buNone/>
            </a:pPr>
            <a:r>
              <a:rPr lang="en-US" sz="2400" b="1" dirty="0">
                <a:solidFill>
                  <a:schemeClr val="tx1"/>
                </a:solidFill>
              </a:rPr>
              <a:t>Read-only</a:t>
            </a:r>
            <a:endParaRPr lang="en-US" sz="2400" dirty="0"/>
          </a:p>
          <a:p>
            <a:pPr algn="l" indent="0" marL="0">
              <a:buNone/>
            </a:pPr>
            <a:r>
              <a:rPr lang="en-US" sz="2000" dirty="0">
                <a:solidFill>
                  <a:schemeClr val="accent4"/>
                </a:solidFill>
              </a:rPr>
              <a:t>Only /tmp is writable</a:t>
            </a:r>
            <a:endParaRPr lang="en-US" sz="2400" dirty="0"/>
          </a:p>
        </p:txBody>
      </p:sp>
      <p:sp>
        <p:nvSpPr>
          <p:cNvPr id="7" name="Card: No capabilities"/>
          <p:cNvSpPr/>
          <p:nvPr/>
        </p:nvSpPr>
        <p:spPr>
          <a:xfrm>
            <a:off x="8065008" y="1417320"/>
            <a:ext cx="3575304" cy="2240280"/>
          </a:xfrm>
          <a:prstGeom prst="roundRect">
            <a:avLst>
              <a:gd name="adj" fmla="val 3265"/>
            </a:avLst>
          </a:prstGeom>
          <a:solidFill>
            <a:schemeClr val="bg1"/>
          </a:solidFill>
          <a:ln w="9525">
            <a:solidFill>
              <a:schemeClr val="accent6"/>
            </a:solidFill>
          </a:ln>
        </p:spPr>
        <p:txBody>
          <a:bodyPr wrap="square" lIns="203200" tIns="203200" rIns="203200" bIns="203200" rtlCol="0" anchor="ctr"/>
          <a:lstStyle/>
          <a:p>
            <a:pPr algn="l" indent="0" marL="0">
              <a:spcAft>
                <a:spcPts val="800"/>
              </a:spcAft>
              <a:buNone/>
            </a:pPr>
            <a:r>
              <a:rPr lang="en-US" sz="2400" b="1" dirty="0">
                <a:solidFill>
                  <a:schemeClr val="tx1"/>
                </a:solidFill>
              </a:rPr>
              <a:t>No capabilities</a:t>
            </a:r>
            <a:endParaRPr lang="en-US" sz="2400" dirty="0"/>
          </a:p>
          <a:p>
            <a:pPr algn="l" indent="0" marL="0">
              <a:buNone/>
            </a:pPr>
            <a:r>
              <a:rPr lang="en-US" sz="2000" dirty="0">
                <a:solidFill>
                  <a:schemeClr val="accent4"/>
                </a:solidFill>
              </a:rPr>
              <a:t>cap_drop: ALL</a:t>
            </a:r>
            <a:endParaRPr lang="en-US" sz="2400" dirty="0"/>
          </a:p>
        </p:txBody>
      </p:sp>
      <p:sp>
        <p:nvSpPr>
          <p:cNvPr id="8" name="Card: Secrets as files"/>
          <p:cNvSpPr/>
          <p:nvPr/>
        </p:nvSpPr>
        <p:spPr>
          <a:xfrm>
            <a:off x="548640" y="3886200"/>
            <a:ext cx="3575304" cy="2240280"/>
          </a:xfrm>
          <a:prstGeom prst="roundRect">
            <a:avLst>
              <a:gd name="adj" fmla="val 3265"/>
            </a:avLst>
          </a:prstGeom>
          <a:solidFill>
            <a:schemeClr val="bg1"/>
          </a:solidFill>
          <a:ln w="9525">
            <a:solidFill>
              <a:schemeClr val="accent6"/>
            </a:solidFill>
          </a:ln>
        </p:spPr>
        <p:txBody>
          <a:bodyPr wrap="square" lIns="203200" tIns="203200" rIns="203200" bIns="203200" rtlCol="0" anchor="ctr"/>
          <a:lstStyle/>
          <a:p>
            <a:pPr algn="l" indent="0" marL="0">
              <a:spcAft>
                <a:spcPts val="800"/>
              </a:spcAft>
              <a:buNone/>
            </a:pPr>
            <a:r>
              <a:rPr lang="en-US" sz="2400" b="1" dirty="0">
                <a:solidFill>
                  <a:schemeClr val="tx1"/>
                </a:solidFill>
              </a:rPr>
              <a:t>Secrets as files</a:t>
            </a:r>
            <a:endParaRPr lang="en-US" sz="2400" dirty="0"/>
          </a:p>
          <a:p>
            <a:pPr algn="l" indent="0" marL="0">
              <a:buNone/>
            </a:pPr>
            <a:r>
              <a:rPr lang="en-US" sz="2000" dirty="0">
                <a:solidFill>
                  <a:schemeClr val="accent4"/>
                </a:solidFill>
              </a:rPr>
              <a:t>Never in env or images</a:t>
            </a:r>
            <a:endParaRPr lang="en-US" sz="2400" dirty="0"/>
          </a:p>
        </p:txBody>
      </p:sp>
      <p:sp>
        <p:nvSpPr>
          <p:cNvPr id="9" name="Card: Isolated networks"/>
          <p:cNvSpPr/>
          <p:nvPr/>
        </p:nvSpPr>
        <p:spPr>
          <a:xfrm>
            <a:off x="4306824" y="3886200"/>
            <a:ext cx="3575304" cy="2240280"/>
          </a:xfrm>
          <a:prstGeom prst="roundRect">
            <a:avLst>
              <a:gd name="adj" fmla="val 3265"/>
            </a:avLst>
          </a:prstGeom>
          <a:solidFill>
            <a:schemeClr val="bg1"/>
          </a:solidFill>
          <a:ln w="9525">
            <a:solidFill>
              <a:schemeClr val="accent6"/>
            </a:solidFill>
          </a:ln>
        </p:spPr>
        <p:txBody>
          <a:bodyPr wrap="square" lIns="203200" tIns="203200" rIns="203200" bIns="203200" rtlCol="0" anchor="ctr"/>
          <a:lstStyle/>
          <a:p>
            <a:pPr algn="l" indent="0" marL="0">
              <a:spcAft>
                <a:spcPts val="800"/>
              </a:spcAft>
              <a:buNone/>
            </a:pPr>
            <a:r>
              <a:rPr lang="en-US" sz="2400" b="1" dirty="0">
                <a:solidFill>
                  <a:schemeClr val="tx1"/>
                </a:solidFill>
              </a:rPr>
              <a:t>Isolated networks</a:t>
            </a:r>
            <a:endParaRPr lang="en-US" sz="2400" dirty="0"/>
          </a:p>
          <a:p>
            <a:pPr algn="l" indent="0" marL="0">
              <a:buNone/>
            </a:pPr>
            <a:r>
              <a:rPr lang="en-US" sz="2000" dirty="0">
                <a:solidFill>
                  <a:schemeClr val="accent4"/>
                </a:solidFill>
              </a:rPr>
              <a:t>Gateway cannot reach data</a:t>
            </a:r>
            <a:endParaRPr lang="en-US" sz="2400" dirty="0"/>
          </a:p>
        </p:txBody>
      </p:sp>
      <p:sp>
        <p:nvSpPr>
          <p:cNvPr id="10" name="Card: Resource limits"/>
          <p:cNvSpPr/>
          <p:nvPr/>
        </p:nvSpPr>
        <p:spPr>
          <a:xfrm>
            <a:off x="8065008" y="3886200"/>
            <a:ext cx="3575304" cy="2240280"/>
          </a:xfrm>
          <a:prstGeom prst="roundRect">
            <a:avLst>
              <a:gd name="adj" fmla="val 3265"/>
            </a:avLst>
          </a:prstGeom>
          <a:solidFill>
            <a:schemeClr val="bg1"/>
          </a:solidFill>
          <a:ln w="9525">
            <a:solidFill>
              <a:schemeClr val="accent6"/>
            </a:solidFill>
          </a:ln>
        </p:spPr>
        <p:txBody>
          <a:bodyPr wrap="square" lIns="203200" tIns="203200" rIns="203200" bIns="203200" rtlCol="0" anchor="ctr"/>
          <a:lstStyle/>
          <a:p>
            <a:pPr algn="l" indent="0" marL="0">
              <a:spcAft>
                <a:spcPts val="800"/>
              </a:spcAft>
              <a:buNone/>
            </a:pPr>
            <a:r>
              <a:rPr lang="en-US" sz="2400" b="1" dirty="0">
                <a:solidFill>
                  <a:schemeClr val="tx1"/>
                </a:solidFill>
              </a:rPr>
              <a:t>Resource limits</a:t>
            </a:r>
            <a:endParaRPr lang="en-US" sz="2400" dirty="0"/>
          </a:p>
          <a:p>
            <a:pPr algn="l" indent="0" marL="0">
              <a:buNone/>
            </a:pPr>
            <a:r>
              <a:rPr lang="en-US" sz="2000" dirty="0">
                <a:solidFill>
                  <a:schemeClr val="accent4"/>
                </a:solidFill>
              </a:rPr>
              <a:t>CPU and memory per service</a:t>
            </a:r>
            <a:endParaRPr lang="en-US" sz="24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548640" y="658368"/>
            <a:ext cx="11091672" cy="658368"/>
          </a:xfrm>
          <a:prstGeom prst="rect">
            <a:avLst/>
          </a:prstGeom>
          <a:noFill/>
          <a:ln/>
        </p:spPr>
        <p:txBody>
          <a:bodyPr wrap="square" lIns="0" tIns="0" rIns="0" bIns="0" rtlCol="0" anchor="ctr"/>
          <a:lstStyle/>
          <a:p>
            <a:pPr algn="l" indent="0" marL="0">
              <a:buNone/>
            </a:pPr>
            <a:r>
              <a:rPr lang="en-US" sz="3000" b="1" dirty="0">
                <a:solidFill>
                  <a:schemeClr val="tx1"/>
                </a:solidFill>
              </a:rPr>
              <a:t>The Ops Center makes the cluster visible</a:t>
            </a:r>
            <a:endParaRPr lang="en-US" sz="3000" dirty="0"/>
          </a:p>
        </p:txBody>
      </p:sp>
      <p:sp>
        <p:nvSpPr>
          <p:cNvPr id="4" name="Text 0"/>
          <p:cNvSpPr/>
          <p:nvPr>
            <p:ph idx="100" type="body" hasCustomPrompt="1"/>
          </p:nvPr>
        </p:nvSpPr>
        <p:spPr>
          <a:xfrm>
            <a:off x="548640" y="347472"/>
            <a:ext cx="11091672" cy="329184"/>
          </a:xfrm>
          <a:prstGeom prst="rect">
            <a:avLst/>
          </a:prstGeom>
          <a:noFill/>
          <a:ln/>
        </p:spPr>
        <p:txBody>
          <a:bodyPr wrap="square" lIns="0" tIns="0" rIns="0" bIns="0" rtlCol="0" anchor="ctr"/>
          <a:lstStyle/>
          <a:p>
            <a:pPr indent="0" marL="0">
              <a:buNone/>
            </a:pPr>
            <a:r>
              <a:rPr lang="en-US" sz="1400" b="1" spc="100" kern="0" dirty="0">
                <a:solidFill>
                  <a:schemeClr val="accent1"/>
                </a:solidFill>
              </a:rPr>
              <a:t>DOCKMART</a:t>
            </a:r>
            <a:endParaRPr lang="en-US" sz="1400" dirty="0"/>
          </a:p>
        </p:txBody>
      </p:sp>
      <p:sp>
        <p:nvSpPr>
          <p:cNvPr id="5" name="ui_ops_recovered panel"/>
          <p:cNvSpPr/>
          <p:nvPr/>
        </p:nvSpPr>
        <p:spPr>
          <a:xfrm>
            <a:off x="548640" y="1417320"/>
            <a:ext cx="5212080" cy="4892040"/>
          </a:xfrm>
          <a:prstGeom prst="roundRect">
            <a:avLst>
              <a:gd name="adj" fmla="val 1495"/>
            </a:avLst>
          </a:prstGeom>
          <a:solidFill>
            <a:schemeClr val="bg1"/>
          </a:solidFill>
          <a:ln w="9525">
            <a:solidFill>
              <a:schemeClr val="accent6"/>
            </a:solidFill>
            <a:prstDash val="solid"/>
          </a:ln>
        </p:spPr>
      </p:sp>
      <p:pic>
        <p:nvPicPr>
          <p:cNvPr id="6" name="ui_ops_recovered" descr="Ops Center showing replicas, load balancing results and the event log">    </p:cNvPr>
          <p:cNvPicPr>
            <a:picLocks noChangeAspect="1"/>
          </p:cNvPicPr>
          <p:nvPr/>
        </p:nvPicPr>
        <p:blipFill>
          <a:blip r:embed="rId1"/>
          <a:stretch>
            <a:fillRect/>
          </a:stretch>
        </p:blipFill>
        <p:spPr>
          <a:xfrm>
            <a:off x="766516" y="1508760"/>
            <a:ext cx="4776327" cy="4709160"/>
          </a:xfrm>
          <a:prstGeom prst="rect">
            <a:avLst/>
          </a:prstGeom>
        </p:spPr>
      </p:pic>
      <p:sp>
        <p:nvSpPr>
          <p:cNvPr id="7" name="Key points"/>
          <p:cNvSpPr txBox="1"/>
          <p:nvPr/>
        </p:nvSpPr>
        <p:spPr>
          <a:xfrm>
            <a:off x="6126480" y="1417320"/>
            <a:ext cx="5513832" cy="4892040"/>
          </a:xfrm>
          <a:prstGeom prst="rect">
            <a:avLst/>
          </a:prstGeom>
          <a:noFill/>
          <a:ln/>
        </p:spPr>
        <p:txBody>
          <a:bodyPr wrap="square" lIns="0" tIns="0" rIns="0" bIns="0" rtlCol="0" anchor="ctr"/>
          <a:lstStyle/>
          <a:p>
            <a:pPr algn="l" marL="342900" indent="-342900">
              <a:spcAft>
                <a:spcPts val="1200"/>
              </a:spcAft>
              <a:buSzPct val="100000"/>
              <a:buChar char="•"/>
            </a:pPr>
            <a:r>
              <a:rPr lang="en-US" sz="2000" dirty="0">
                <a:solidFill>
                  <a:schemeClr val="accent4"/>
                </a:solidFill>
              </a:rPr>
              <a:t>Every replica reports to Redis every 2 seconds</a:t>
            </a:r>
            <a:endParaRPr lang="en-US" sz="2000" dirty="0"/>
          </a:p>
          <a:p>
            <a:pPr algn="l" marL="342900" indent="-342900">
              <a:spcAft>
                <a:spcPts val="1200"/>
              </a:spcAft>
              <a:buSzPct val="100000"/>
              <a:buChar char="•"/>
            </a:pPr>
            <a:r>
              <a:rPr lang="en-US" sz="2000" dirty="0">
                <a:solidFill>
                  <a:schemeClr val="accent4"/>
                </a:solidFill>
              </a:rPr>
              <a:t>Send 300 requests and watch them spread</a:t>
            </a:r>
            <a:endParaRPr lang="en-US" sz="2000" dirty="0"/>
          </a:p>
          <a:p>
            <a:pPr algn="l" marL="342900" indent="-342900">
              <a:spcAft>
                <a:spcPts val="1200"/>
              </a:spcAft>
              <a:buSzPct val="100000"/>
              <a:buChar char="•"/>
            </a:pPr>
            <a:r>
              <a:rPr lang="en-US" sz="2000" dirty="0">
                <a:solidFill>
                  <a:schemeClr val="accent4"/>
                </a:solidFill>
              </a:rPr>
              <a:t>Kill a replica: uptime resets, restarts rises</a:t>
            </a:r>
            <a:endParaRPr lang="en-US" sz="2000" dirty="0"/>
          </a:p>
          <a:p>
            <a:pPr algn="l" marL="342900" indent="-342900">
              <a:spcAft>
                <a:spcPts val="1200"/>
              </a:spcAft>
              <a:buSzPct val="100000"/>
              <a:buChar char="•"/>
            </a:pPr>
            <a:r>
              <a:rPr lang="en-US" sz="2000" dirty="0">
                <a:solidFill>
                  <a:schemeClr val="accent4"/>
                </a:solidFill>
              </a:rPr>
              <a:t>No Docker socket needed, so it also works on Kubernetes</a:t>
            </a:r>
            <a:endParaRPr lang="en-US" sz="20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548640" y="658368"/>
            <a:ext cx="11091672" cy="658368"/>
          </a:xfrm>
          <a:prstGeom prst="rect">
            <a:avLst/>
          </a:prstGeom>
          <a:noFill/>
          <a:ln/>
        </p:spPr>
        <p:txBody>
          <a:bodyPr wrap="square" lIns="0" tIns="0" rIns="0" bIns="0" rtlCol="0" anchor="ctr"/>
          <a:lstStyle/>
          <a:p>
            <a:pPr algn="l" indent="0" marL="0">
              <a:buNone/>
            </a:pPr>
            <a:r>
              <a:rPr lang="en-US" sz="3000" b="1" dirty="0">
                <a:solidFill>
                  <a:schemeClr val="tx1"/>
                </a:solidFill>
              </a:rPr>
              <a:t>The image got 6 times smaller and much cleaner</a:t>
            </a:r>
            <a:endParaRPr lang="en-US" sz="3000" dirty="0"/>
          </a:p>
        </p:txBody>
      </p:sp>
      <p:sp>
        <p:nvSpPr>
          <p:cNvPr id="4" name="Text 0"/>
          <p:cNvSpPr/>
          <p:nvPr>
            <p:ph idx="100" type="body" hasCustomPrompt="1"/>
          </p:nvPr>
        </p:nvSpPr>
        <p:spPr>
          <a:xfrm>
            <a:off x="548640" y="347472"/>
            <a:ext cx="11091672" cy="329184"/>
          </a:xfrm>
          <a:prstGeom prst="rect">
            <a:avLst/>
          </a:prstGeom>
          <a:noFill/>
          <a:ln/>
        </p:spPr>
        <p:txBody>
          <a:bodyPr wrap="square" lIns="0" tIns="0" rIns="0" bIns="0" rtlCol="0" anchor="ctr"/>
          <a:lstStyle/>
          <a:p>
            <a:pPr indent="0" marL="0">
              <a:buNone/>
            </a:pPr>
            <a:r>
              <a:rPr lang="en-US" sz="1400" b="1" spc="100" kern="0" dirty="0">
                <a:solidFill>
                  <a:schemeClr val="accent1"/>
                </a:solidFill>
              </a:rPr>
              <a:t>RESULTS</a:t>
            </a:r>
            <a:endParaRPr lang="en-US" sz="1400" dirty="0"/>
          </a:p>
        </p:txBody>
      </p:sp>
      <p:sp>
        <p:nvSpPr>
          <p:cNvPr id="5" name="Chart panel"/>
          <p:cNvSpPr/>
          <p:nvPr/>
        </p:nvSpPr>
        <p:spPr>
          <a:xfrm>
            <a:off x="548640" y="1417320"/>
            <a:ext cx="6766560" cy="4114800"/>
          </a:xfrm>
          <a:prstGeom prst="roundRect">
            <a:avLst>
              <a:gd name="adj" fmla="val 1778"/>
            </a:avLst>
          </a:prstGeom>
          <a:solidFill>
            <a:schemeClr val="bg1"/>
          </a:solidFill>
          <a:ln w="9525">
            <a:solidFill>
              <a:schemeClr val="accent6"/>
            </a:solidFill>
            <a:prstDash val="solid"/>
          </a:ln>
        </p:spPr>
      </p:sp>
      <p:graphicFrame>
        <p:nvGraphicFramePr>
          <p:cNvPr id="6" name="Chart 0" descr="Disk use and download size of four image strategies"/>
          <p:cNvGraphicFramePr/>
          <p:nvPr/>
        </p:nvGraphicFramePr>
        <p:xfrm>
          <a:off x="640080" y="1508760"/>
          <a:ext cx="6583680" cy="3931920"/>
        </p:xfrm>
        <a:graphic xmlns:a="http://schemas.openxmlformats.org/drawingml/2006/main">
          <a:graphicData uri="http://schemas.openxmlformats.org/drawingml/2006/chart">
            <c:chart xmlns:c="http://schemas.openxmlformats.org/drawingml/2006/chart" r:id="rId1"/>
          </a:graphicData>
        </a:graphic>
      </p:graphicFrame>
      <p:graphicFrame>
        <p:nvGraphicFramePr>
          <p:cNvPr id="20" name="Table"/>
          <p:cNvGraphicFramePr>
            <a:graphicFrameLocks noGrp="1"/>
          </p:cNvGraphicFramePr>
          <p:nvPr>
            <p:extLst>
              <p:ext uri="{D42A27DB-BD31-4B8C-83A1-F6EECF244321}">
                <p14:modId xmlns:p14="http://schemas.microsoft.com/office/powerpoint/2010/main" val="1579011935"/>
              </p:ext>
            </p:extLst>
          </p:nvPr>
        </p:nvGraphicFramePr>
        <p:xfrm>
          <a:off x="7498080" y="1417320"/>
          <a:ext cx="4142232" cy="914400"/>
        </p:xfrm>
        <a:graphic>
          <a:graphicData uri="http://schemas.openxmlformats.org/drawingml/2006/table">
            <a:tbl>
              <a:tblPr/>
              <a:tblGrid>
                <a:gridCol w="1947672"/>
                <a:gridCol w="1188720"/>
                <a:gridCol w="1005840"/>
              </a:tblGrid>
              <a:tr h="566928">
                <a:tc>
                  <a:txBody>
                    <a:bodyPr/>
                    <a:lstStyle/>
                    <a:p>
                      <a:pPr indent="0" marL="0">
                        <a:buNone/>
                      </a:pPr>
                      <a:endParaRPr lang="en-US" sz="18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accent1"/>
                    </a:solidFill>
                  </a:tcPr>
                </a:tc>
                <a:tc>
                  <a:txBody>
                    <a:bodyPr/>
                    <a:lstStyle/>
                    <a:p>
                      <a:pPr indent="0" marL="0">
                        <a:buNone/>
                      </a:pPr>
                      <a:r>
                        <a:rPr lang="en-US" sz="1800" b="1" dirty="0">
                          <a:solidFill>
                            <a:schemeClr val="bg1"/>
                          </a:solidFill>
                        </a:rPr>
                        <a:t>Critical</a:t>
                      </a:r>
                      <a:endParaRPr lang="en-US" sz="18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accent1"/>
                    </a:solidFill>
                  </a:tcPr>
                </a:tc>
                <a:tc>
                  <a:txBody>
                    <a:bodyPr/>
                    <a:lstStyle/>
                    <a:p>
                      <a:pPr indent="0" marL="0">
                        <a:buNone/>
                      </a:pPr>
                      <a:r>
                        <a:rPr lang="en-US" sz="1800" b="1" dirty="0">
                          <a:solidFill>
                            <a:schemeClr val="bg1"/>
                          </a:solidFill>
                        </a:rPr>
                        <a:t>High</a:t>
                      </a:r>
                      <a:endParaRPr lang="en-US" sz="18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accent1"/>
                    </a:solidFill>
                  </a:tcPr>
                </a:tc>
              </a:tr>
              <a:tr h="566928">
                <a:tc>
                  <a:txBody>
                    <a:bodyPr/>
                    <a:lstStyle/>
                    <a:p>
                      <a:pPr indent="0" marL="0">
                        <a:buNone/>
                      </a:pPr>
                      <a:r>
                        <a:rPr lang="en-US" sz="1800" dirty="0">
                          <a:solidFill>
                            <a:schemeClr val="tx1"/>
                          </a:solidFill>
                        </a:rPr>
                        <a:t>Naive</a:t>
                      </a:r>
                      <a:endParaRPr lang="en-US" sz="18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57</a:t>
                      </a:r>
                      <a:endParaRPr lang="en-US" sz="18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373</a:t>
                      </a:r>
                      <a:endParaRPr lang="en-US" sz="18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1"/>
                    </a:solidFill>
                  </a:tcPr>
                </a:tc>
              </a:tr>
              <a:tr h="566928">
                <a:tc>
                  <a:txBody>
                    <a:bodyPr/>
                    <a:lstStyle/>
                    <a:p>
                      <a:pPr indent="0" marL="0">
                        <a:buNone/>
                      </a:pPr>
                      <a:r>
                        <a:rPr lang="en-US" sz="1800" dirty="0">
                          <a:solidFill>
                            <a:schemeClr val="tx1"/>
                          </a:solidFill>
                        </a:rPr>
                        <a:t>Slim</a:t>
                      </a:r>
                      <a:endParaRPr lang="en-US" sz="18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2</a:t>
                      </a:r>
                      <a:endParaRPr lang="en-US" sz="18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76</a:t>
                      </a:r>
                      <a:endParaRPr lang="en-US" sz="18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2"/>
                    </a:solidFill>
                  </a:tcPr>
                </a:tc>
              </a:tr>
              <a:tr h="566928">
                <a:tc>
                  <a:txBody>
                    <a:bodyPr/>
                    <a:lstStyle/>
                    <a:p>
                      <a:pPr indent="0" marL="0">
                        <a:buNone/>
                      </a:pPr>
                      <a:r>
                        <a:rPr lang="en-US" sz="1800" dirty="0">
                          <a:solidFill>
                            <a:schemeClr val="tx1"/>
                          </a:solidFill>
                        </a:rPr>
                        <a:t>Distroless</a:t>
                      </a:r>
                      <a:endParaRPr lang="en-US" sz="18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0</a:t>
                      </a:r>
                      <a:endParaRPr lang="en-US" sz="18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11</a:t>
                      </a:r>
                      <a:endParaRPr lang="en-US" sz="18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1"/>
                    </a:solidFill>
                  </a:tcPr>
                </a:tc>
              </a:tr>
              <a:tr h="566928">
                <a:tc>
                  <a:txBody>
                    <a:bodyPr/>
                    <a:lstStyle/>
                    <a:p>
                      <a:pPr indent="0" marL="0">
                        <a:buNone/>
                      </a:pPr>
                      <a:r>
                        <a:rPr lang="en-US" sz="1800" dirty="0">
                          <a:solidFill>
                            <a:schemeClr val="tx1"/>
                          </a:solidFill>
                        </a:rPr>
                        <a:t>Ours</a:t>
                      </a:r>
                      <a:endParaRPr lang="en-US" sz="18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0</a:t>
                      </a:r>
                      <a:endParaRPr lang="en-US" sz="18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6</a:t>
                      </a:r>
                      <a:endParaRPr lang="en-US" sz="18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2"/>
                    </a:solidFill>
                  </a:tcPr>
                </a:tc>
              </a:tr>
            </a:tbl>
          </a:graphicData>
        </a:graphic>
      </p:graphicFrame>
      <p:sp>
        <p:nvSpPr>
          <p:cNvPr id="8" name="Takeaway"/>
          <p:cNvSpPr txBox="1"/>
          <p:nvPr/>
        </p:nvSpPr>
        <p:spPr>
          <a:xfrm>
            <a:off x="548640" y="5669280"/>
            <a:ext cx="11091672" cy="594360"/>
          </a:xfrm>
          <a:prstGeom prst="rect">
            <a:avLst/>
          </a:prstGeom>
          <a:noFill/>
          <a:ln/>
        </p:spPr>
        <p:txBody>
          <a:bodyPr wrap="square" lIns="0" tIns="0" rIns="0" bIns="0" rtlCol="0" anchor="ctr"/>
          <a:lstStyle/>
          <a:p>
            <a:pPr algn="l" indent="0" marL="0">
              <a:buNone/>
            </a:pPr>
            <a:r>
              <a:rPr lang="en-US" sz="1800" dirty="0">
                <a:solidFill>
                  <a:schemeClr val="accent4"/>
                </a:solidFill>
              </a:rPr>
              <a:t>Vulnerabilities found by Grype. A package that is not in the image cannot be vulnerable.</a:t>
            </a:r>
            <a:endParaRPr lang="en-US" sz="18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548640" y="658368"/>
            <a:ext cx="11091672" cy="658368"/>
          </a:xfrm>
          <a:prstGeom prst="rect">
            <a:avLst/>
          </a:prstGeom>
          <a:noFill/>
          <a:ln/>
        </p:spPr>
        <p:txBody>
          <a:bodyPr wrap="square" lIns="0" tIns="0" rIns="0" bIns="0" rtlCol="0" anchor="ctr"/>
          <a:lstStyle/>
          <a:p>
            <a:pPr algn="l" indent="0" marL="0">
              <a:buNone/>
            </a:pPr>
            <a:r>
              <a:rPr lang="en-US" sz="3000" b="1" dirty="0">
                <a:solidFill>
                  <a:schemeClr val="tx1"/>
                </a:solidFill>
              </a:rPr>
              <a:t>Six replicas gave 4.8 times the throughput</a:t>
            </a:r>
            <a:endParaRPr lang="en-US" sz="3000" dirty="0"/>
          </a:p>
        </p:txBody>
      </p:sp>
      <p:sp>
        <p:nvSpPr>
          <p:cNvPr id="4" name="Text 0"/>
          <p:cNvSpPr/>
          <p:nvPr>
            <p:ph idx="100" type="body" hasCustomPrompt="1"/>
          </p:nvPr>
        </p:nvSpPr>
        <p:spPr>
          <a:xfrm>
            <a:off x="548640" y="347472"/>
            <a:ext cx="11091672" cy="329184"/>
          </a:xfrm>
          <a:prstGeom prst="rect">
            <a:avLst/>
          </a:prstGeom>
          <a:noFill/>
          <a:ln/>
        </p:spPr>
        <p:txBody>
          <a:bodyPr wrap="square" lIns="0" tIns="0" rIns="0" bIns="0" rtlCol="0" anchor="ctr"/>
          <a:lstStyle/>
          <a:p>
            <a:pPr indent="0" marL="0">
              <a:buNone/>
            </a:pPr>
            <a:r>
              <a:rPr lang="en-US" sz="1400" b="1" spc="100" kern="0" dirty="0">
                <a:solidFill>
                  <a:schemeClr val="accent1"/>
                </a:solidFill>
              </a:rPr>
              <a:t>RESULTS</a:t>
            </a:r>
            <a:endParaRPr lang="en-US" sz="1400" dirty="0"/>
          </a:p>
        </p:txBody>
      </p:sp>
      <p:sp>
        <p:nvSpPr>
          <p:cNvPr id="5" name="Chart panel"/>
          <p:cNvSpPr/>
          <p:nvPr/>
        </p:nvSpPr>
        <p:spPr>
          <a:xfrm>
            <a:off x="548640" y="1417320"/>
            <a:ext cx="5440680" cy="4114800"/>
          </a:xfrm>
          <a:prstGeom prst="roundRect">
            <a:avLst>
              <a:gd name="adj" fmla="val 1778"/>
            </a:avLst>
          </a:prstGeom>
          <a:solidFill>
            <a:schemeClr val="bg1"/>
          </a:solidFill>
          <a:ln w="9525">
            <a:solidFill>
              <a:schemeClr val="accent6"/>
            </a:solidFill>
            <a:prstDash val="solid"/>
          </a:ln>
        </p:spPr>
      </p:sp>
      <p:sp>
        <p:nvSpPr>
          <p:cNvPr id="6" name="Chart panel"/>
          <p:cNvSpPr/>
          <p:nvPr/>
        </p:nvSpPr>
        <p:spPr>
          <a:xfrm>
            <a:off x="6199632" y="1417320"/>
            <a:ext cx="5440680" cy="4114800"/>
          </a:xfrm>
          <a:prstGeom prst="roundRect">
            <a:avLst>
              <a:gd name="adj" fmla="val 1778"/>
            </a:avLst>
          </a:prstGeom>
          <a:solidFill>
            <a:schemeClr val="bg1"/>
          </a:solidFill>
          <a:ln w="9525">
            <a:solidFill>
              <a:schemeClr val="accent6"/>
            </a:solidFill>
            <a:prstDash val="solid"/>
          </a:ln>
        </p:spPr>
      </p:sp>
      <p:graphicFrame>
        <p:nvGraphicFramePr>
          <p:cNvPr id="7" name="Chart 0" descr="Throughput for one to six replicas"/>
          <p:cNvGraphicFramePr/>
          <p:nvPr/>
        </p:nvGraphicFramePr>
        <p:xfrm>
          <a:off x="640080" y="1508760"/>
          <a:ext cx="5257800" cy="3931920"/>
        </p:xfrm>
        <a:graphic xmlns:a="http://schemas.openxmlformats.org/drawingml/2006/main">
          <a:graphicData uri="http://schemas.openxmlformats.org/drawingml/2006/chart">
            <c:chart xmlns:c="http://schemas.openxmlformats.org/drawingml/2006/chart" r:id="rId1"/>
          </a:graphicData>
        </a:graphic>
      </p:graphicFrame>
      <p:graphicFrame>
        <p:nvGraphicFramePr>
          <p:cNvPr id="8" name="Chart 1" descr="Latency for one to six replicas"/>
          <p:cNvGraphicFramePr/>
          <p:nvPr/>
        </p:nvGraphicFramePr>
        <p:xfrm>
          <a:off x="6291072" y="1508760"/>
          <a:ext cx="5257800" cy="3931920"/>
        </p:xfrm>
        <a:graphic xmlns:a="http://schemas.openxmlformats.org/drawingml/2006/main">
          <a:graphicData uri="http://schemas.openxmlformats.org/drawingml/2006/chart">
            <c:chart xmlns:c="http://schemas.openxmlformats.org/drawingml/2006/chart" r:id="rId2"/>
          </a:graphicData>
        </a:graphic>
      </p:graphicFrame>
      <p:sp>
        <p:nvSpPr>
          <p:cNvPr id="9" name="Takeaway"/>
          <p:cNvSpPr txBox="1"/>
          <p:nvPr/>
        </p:nvSpPr>
        <p:spPr>
          <a:xfrm>
            <a:off x="548640" y="5669280"/>
            <a:ext cx="11091672" cy="594360"/>
          </a:xfrm>
          <a:prstGeom prst="rect">
            <a:avLst/>
          </a:prstGeom>
          <a:noFill/>
          <a:ln/>
        </p:spPr>
        <p:txBody>
          <a:bodyPr wrap="square" lIns="0" tIns="0" rIns="0" bIns="0" rtlCol="0" anchor="ctr"/>
          <a:lstStyle/>
          <a:p>
            <a:pPr algn="l" indent="0" marL="0">
              <a:buNone/>
            </a:pPr>
            <a:r>
              <a:rPr lang="en-US" sz="1800" dirty="0">
                <a:solidFill>
                  <a:schemeClr val="accent4"/>
                </a:solidFill>
              </a:rPr>
              <a:t>No failed requests, and the gateway was never restarted. Each replica is limited to half a CPU core.</a:t>
            </a:r>
            <a:endParaRPr lang="en-US" sz="18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548640" y="658368"/>
            <a:ext cx="11091672" cy="658368"/>
          </a:xfrm>
          <a:prstGeom prst="rect">
            <a:avLst/>
          </a:prstGeom>
          <a:noFill/>
          <a:ln/>
        </p:spPr>
        <p:txBody>
          <a:bodyPr wrap="square" lIns="0" tIns="0" rIns="0" bIns="0" rtlCol="0" anchor="ctr"/>
          <a:lstStyle/>
          <a:p>
            <a:pPr algn="l" indent="0" marL="0">
              <a:buNone/>
            </a:pPr>
            <a:r>
              <a:rPr lang="en-US" sz="3000" b="1" dirty="0">
                <a:solidFill>
                  <a:schemeClr val="tx1"/>
                </a:solidFill>
              </a:rPr>
              <a:t>We broke it under load, and visitors noticed nothing</a:t>
            </a:r>
            <a:endParaRPr lang="en-US" sz="3000" dirty="0"/>
          </a:p>
        </p:txBody>
      </p:sp>
      <p:sp>
        <p:nvSpPr>
          <p:cNvPr id="4" name="Text 0"/>
          <p:cNvSpPr/>
          <p:nvPr>
            <p:ph idx="100" type="body" hasCustomPrompt="1"/>
          </p:nvPr>
        </p:nvSpPr>
        <p:spPr>
          <a:xfrm>
            <a:off x="548640" y="347472"/>
            <a:ext cx="11091672" cy="329184"/>
          </a:xfrm>
          <a:prstGeom prst="rect">
            <a:avLst/>
          </a:prstGeom>
          <a:noFill/>
          <a:ln/>
        </p:spPr>
        <p:txBody>
          <a:bodyPr wrap="square" lIns="0" tIns="0" rIns="0" bIns="0" rtlCol="0" anchor="ctr"/>
          <a:lstStyle/>
          <a:p>
            <a:pPr indent="0" marL="0">
              <a:buNone/>
            </a:pPr>
            <a:r>
              <a:rPr lang="en-US" sz="1400" b="1" spc="100" kern="0" dirty="0">
                <a:solidFill>
                  <a:schemeClr val="accent1"/>
                </a:solidFill>
              </a:rPr>
              <a:t>RESULTS</a:t>
            </a:r>
            <a:endParaRPr lang="en-US" sz="1400" dirty="0"/>
          </a:p>
        </p:txBody>
      </p:sp>
      <p:graphicFrame>
        <p:nvGraphicFramePr>
          <p:cNvPr id="22" name="Table"/>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5760720"/>
                <a:gridCol w="3017520"/>
                <a:gridCol w="2313432"/>
              </a:tblGrid>
              <a:tr h="621792">
                <a:tc>
                  <a:txBody>
                    <a:bodyPr/>
                    <a:lstStyle/>
                    <a:p>
                      <a:pPr indent="0" marL="0">
                        <a:buNone/>
                      </a:pPr>
                      <a:r>
                        <a:rPr lang="en-US" sz="1800" b="1" dirty="0">
                          <a:solidFill>
                            <a:schemeClr val="bg1"/>
                          </a:solidFill>
                        </a:rPr>
                        <a:t>Failure, at 100 requests per second</a:t>
                      </a:r>
                      <a:endParaRPr lang="en-US" sz="18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accent1"/>
                    </a:solidFill>
                  </a:tcPr>
                </a:tc>
                <a:tc>
                  <a:txBody>
                    <a:bodyPr/>
                    <a:lstStyle/>
                    <a:p>
                      <a:pPr indent="0" marL="0">
                        <a:buNone/>
                      </a:pPr>
                      <a:r>
                        <a:rPr lang="en-US" sz="1800" b="1" dirty="0">
                          <a:solidFill>
                            <a:schemeClr val="bg1"/>
                          </a:solidFill>
                        </a:rPr>
                        <a:t>Failed requests</a:t>
                      </a:r>
                      <a:endParaRPr lang="en-US" sz="18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accent1"/>
                    </a:solidFill>
                  </a:tcPr>
                </a:tc>
                <a:tc>
                  <a:txBody>
                    <a:bodyPr/>
                    <a:lstStyle/>
                    <a:p>
                      <a:pPr indent="0" marL="0">
                        <a:buNone/>
                      </a:pPr>
                      <a:r>
                        <a:rPr lang="en-US" sz="1800" b="1" dirty="0">
                          <a:solidFill>
                            <a:schemeClr val="bg1"/>
                          </a:solidFill>
                        </a:rPr>
                        <a:t>Recovery</a:t>
                      </a:r>
                      <a:endParaRPr lang="en-US" sz="18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accent1"/>
                    </a:solidFill>
                  </a:tcPr>
                </a:tc>
              </a:tr>
              <a:tr h="621792">
                <a:tc>
                  <a:txBody>
                    <a:bodyPr/>
                    <a:lstStyle/>
                    <a:p>
                      <a:pPr indent="0" marL="0">
                        <a:buNone/>
                      </a:pPr>
                      <a:r>
                        <a:rPr lang="en-US" sz="1800" dirty="0">
                          <a:solidFill>
                            <a:schemeClr val="tx1"/>
                          </a:solidFill>
                        </a:rPr>
                        <a:t>Process crash (Compose)</a:t>
                      </a:r>
                      <a:endParaRPr lang="en-US" sz="18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0 of 4,001</a:t>
                      </a:r>
                      <a:endParaRPr lang="en-US" sz="18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6.6 s</a:t>
                      </a:r>
                      <a:endParaRPr lang="en-US" sz="18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1"/>
                    </a:solidFill>
                  </a:tcPr>
                </a:tc>
              </a:tr>
              <a:tr h="621792">
                <a:tc>
                  <a:txBody>
                    <a:bodyPr/>
                    <a:lstStyle/>
                    <a:p>
                      <a:pPr indent="0" marL="0">
                        <a:buNone/>
                      </a:pPr>
                      <a:r>
                        <a:rPr lang="en-US" sz="1800" dirty="0">
                          <a:solidFill>
                            <a:schemeClr val="tx1"/>
                          </a:solidFill>
                        </a:rPr>
                        <a:t>Rolling update (Kubernetes)</a:t>
                      </a:r>
                      <a:endParaRPr lang="en-US" sz="18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0 of 7,500</a:t>
                      </a:r>
                      <a:endParaRPr lang="en-US" sz="18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14.2 s</a:t>
                      </a:r>
                      <a:endParaRPr lang="en-US" sz="18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2"/>
                    </a:solidFill>
                  </a:tcPr>
                </a:tc>
              </a:tr>
              <a:tr h="621792">
                <a:tc>
                  <a:txBody>
                    <a:bodyPr/>
                    <a:lstStyle/>
                    <a:p>
                      <a:pPr indent="0" marL="0">
                        <a:buNone/>
                      </a:pPr>
                      <a:r>
                        <a:rPr lang="en-US" sz="1800" dirty="0">
                          <a:solidFill>
                            <a:schemeClr val="tx1"/>
                          </a:solidFill>
                        </a:rPr>
                        <a:t>Rollback (Kubernetes)</a:t>
                      </a:r>
                      <a:endParaRPr lang="en-US" sz="18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0 of 7,501</a:t>
                      </a:r>
                      <a:endParaRPr lang="en-US" sz="18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15.2 s</a:t>
                      </a:r>
                      <a:endParaRPr lang="en-US" sz="18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1"/>
                    </a:solidFill>
                  </a:tcPr>
                </a:tc>
              </a:tr>
              <a:tr h="621792">
                <a:tc>
                  <a:txBody>
                    <a:bodyPr/>
                    <a:lstStyle/>
                    <a:p>
                      <a:pPr indent="0" marL="0">
                        <a:buNone/>
                      </a:pPr>
                      <a:r>
                        <a:rPr lang="en-US" sz="1800" dirty="0">
                          <a:solidFill>
                            <a:schemeClr val="tx1"/>
                          </a:solidFill>
                        </a:rPr>
                        <a:t>Liveness failure (Kubernetes)</a:t>
                      </a:r>
                      <a:endParaRPr lang="en-US" sz="18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0 of 7,501</a:t>
                      </a:r>
                      <a:endParaRPr lang="en-US" sz="18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21.2 s</a:t>
                      </a:r>
                      <a:endParaRPr lang="en-US" sz="18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2"/>
                    </a:solidFill>
                  </a:tcPr>
                </a:tc>
              </a:tr>
              <a:tr h="621792">
                <a:tc>
                  <a:txBody>
                    <a:bodyPr/>
                    <a:lstStyle/>
                    <a:p>
                      <a:pPr indent="0" marL="0">
                        <a:buNone/>
                      </a:pPr>
                      <a:r>
                        <a:rPr lang="en-US" sz="1800" dirty="0">
                          <a:solidFill>
                            <a:schemeClr val="tx1"/>
                          </a:solidFill>
                        </a:rPr>
                        <a:t>Node drained (Kubernetes)</a:t>
                      </a:r>
                      <a:endParaRPr lang="en-US" sz="18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0 of 7,501</a:t>
                      </a:r>
                      <a:endParaRPr lang="en-US" sz="18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16.7 s</a:t>
                      </a:r>
                      <a:endParaRPr lang="en-US" sz="1800" dirty="0"/>
                    </a:p>
                  </a:txBody>
                  <a:tcPr marL="109728" marR="109728" marT="36576" marB="36576" anchor="ctr">
                    <a:lnL w="9525" cap="flat" cmpd="sng" algn="ctr">
                      <a:solidFill>
                        <a:srgbClr val="D5DEE4"/>
                      </a:solidFill>
                      <a:prstDash val="solid"/>
                      <a:round/>
                      <a:headEnd type="none" w="med" len="med"/>
                      <a:tailEnd type="none" w="med" len="med"/>
                    </a:lnL>
                    <a:lnR w="9525" cap="flat" cmpd="sng" algn="ctr">
                      <a:solidFill>
                        <a:srgbClr val="D5DEE4"/>
                      </a:solidFill>
                      <a:prstDash val="solid"/>
                      <a:round/>
                      <a:headEnd type="none" w="med" len="med"/>
                      <a:tailEnd type="none" w="med" len="med"/>
                    </a:lnR>
                    <a:lnT w="9525" cap="flat" cmpd="sng" algn="ctr">
                      <a:solidFill>
                        <a:srgbClr val="D5DEE4"/>
                      </a:solidFill>
                      <a:prstDash val="solid"/>
                      <a:round/>
                      <a:headEnd type="none" w="med" len="med"/>
                      <a:tailEnd type="none" w="med" len="med"/>
                    </a:lnT>
                    <a:lnB w="9525" cap="flat" cmpd="sng" algn="ctr">
                      <a:solidFill>
                        <a:srgbClr val="D5DEE4"/>
                      </a:solidFill>
                      <a:prstDash val="solid"/>
                      <a:round/>
                      <a:headEnd type="none" w="med" len="med"/>
                      <a:tailEnd type="none" w="med" len="med"/>
                    </a:lnB>
                    <a:solidFill>
                      <a:schemeClr val="bg1"/>
                    </a:solidFill>
                  </a:tcPr>
                </a:tc>
              </a:tr>
            </a:tbl>
          </a:graphicData>
        </a:graphic>
      </p:graphicFrame>
      <p:sp>
        <p:nvSpPr>
          <p:cNvPr id="6" name="Takeaway"/>
          <p:cNvSpPr txBox="1"/>
          <p:nvPr/>
        </p:nvSpPr>
        <p:spPr>
          <a:xfrm>
            <a:off x="548640" y="5349240"/>
            <a:ext cx="11091672" cy="594360"/>
          </a:xfrm>
          <a:prstGeom prst="rect">
            <a:avLst/>
          </a:prstGeom>
          <a:noFill/>
          <a:ln/>
        </p:spPr>
        <p:txBody>
          <a:bodyPr wrap="square" lIns="0" tIns="0" rIns="0" bIns="0" rtlCol="0" anchor="ctr"/>
          <a:lstStyle/>
          <a:p>
            <a:pPr algn="l" indent="0" marL="0">
              <a:buNone/>
            </a:pPr>
            <a:r>
              <a:rPr lang="en-US" sz="1800" dirty="0">
                <a:solidFill>
                  <a:schemeClr val="accent4"/>
                </a:solidFill>
              </a:rPr>
              <a:t>During a Redis outage the catalog still answered in 28 ms. Only checkout was refused, with a clear message.</a:t>
            </a:r>
            <a:endParaRPr lang="en-US" sz="18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548640" y="658368"/>
            <a:ext cx="11091672" cy="658368"/>
          </a:xfrm>
          <a:prstGeom prst="rect">
            <a:avLst/>
          </a:prstGeom>
          <a:noFill/>
          <a:ln/>
        </p:spPr>
        <p:txBody>
          <a:bodyPr wrap="square" lIns="0" tIns="0" rIns="0" bIns="0" rtlCol="0" anchor="ctr"/>
          <a:lstStyle/>
          <a:p>
            <a:pPr algn="l" indent="0" marL="0">
              <a:buNone/>
            </a:pPr>
            <a:r>
              <a:rPr lang="en-US" sz="3000" b="1" dirty="0">
                <a:solidFill>
                  <a:schemeClr val="tx1"/>
                </a:solidFill>
              </a:rPr>
              <a:t>Kubernetes scaled itself and updated with zero downtime</a:t>
            </a:r>
            <a:endParaRPr lang="en-US" sz="3000" dirty="0"/>
          </a:p>
        </p:txBody>
      </p:sp>
      <p:sp>
        <p:nvSpPr>
          <p:cNvPr id="4" name="Text 0"/>
          <p:cNvSpPr/>
          <p:nvPr>
            <p:ph idx="100" type="body" hasCustomPrompt="1"/>
          </p:nvPr>
        </p:nvSpPr>
        <p:spPr>
          <a:xfrm>
            <a:off x="548640" y="347472"/>
            <a:ext cx="11091672" cy="329184"/>
          </a:xfrm>
          <a:prstGeom prst="rect">
            <a:avLst/>
          </a:prstGeom>
          <a:noFill/>
          <a:ln/>
        </p:spPr>
        <p:txBody>
          <a:bodyPr wrap="square" lIns="0" tIns="0" rIns="0" bIns="0" rtlCol="0" anchor="ctr"/>
          <a:lstStyle/>
          <a:p>
            <a:pPr indent="0" marL="0">
              <a:buNone/>
            </a:pPr>
            <a:r>
              <a:rPr lang="en-US" sz="1400" b="1" spc="100" kern="0" dirty="0">
                <a:solidFill>
                  <a:schemeClr val="accent1"/>
                </a:solidFill>
              </a:rPr>
              <a:t>RESULTS</a:t>
            </a:r>
            <a:endParaRPr lang="en-US" sz="1400" dirty="0"/>
          </a:p>
        </p:txBody>
      </p:sp>
      <p:sp>
        <p:nvSpPr>
          <p:cNvPr id="5" name="Chart panel"/>
          <p:cNvSpPr/>
          <p:nvPr/>
        </p:nvSpPr>
        <p:spPr>
          <a:xfrm>
            <a:off x="548640" y="1417320"/>
            <a:ext cx="5440680" cy="4114800"/>
          </a:xfrm>
          <a:prstGeom prst="roundRect">
            <a:avLst>
              <a:gd name="adj" fmla="val 1778"/>
            </a:avLst>
          </a:prstGeom>
          <a:solidFill>
            <a:schemeClr val="bg1"/>
          </a:solidFill>
          <a:ln w="9525">
            <a:solidFill>
              <a:schemeClr val="accent6"/>
            </a:solidFill>
            <a:prstDash val="solid"/>
          </a:ln>
        </p:spPr>
      </p:sp>
      <p:sp>
        <p:nvSpPr>
          <p:cNvPr id="6" name="Chart panel"/>
          <p:cNvSpPr/>
          <p:nvPr/>
        </p:nvSpPr>
        <p:spPr>
          <a:xfrm>
            <a:off x="6199632" y="1417320"/>
            <a:ext cx="5440680" cy="4114800"/>
          </a:xfrm>
          <a:prstGeom prst="roundRect">
            <a:avLst>
              <a:gd name="adj" fmla="val 1778"/>
            </a:avLst>
          </a:prstGeom>
          <a:solidFill>
            <a:schemeClr val="bg1"/>
          </a:solidFill>
          <a:ln w="9525">
            <a:solidFill>
              <a:schemeClr val="accent6"/>
            </a:solidFill>
            <a:prstDash val="solid"/>
          </a:ln>
        </p:spPr>
      </p:sp>
      <p:graphicFrame>
        <p:nvGraphicFramePr>
          <p:cNvPr id="7" name="Chart 0" descr="Ready Pods by version during a rolling update"/>
          <p:cNvGraphicFramePr/>
          <p:nvPr/>
        </p:nvGraphicFramePr>
        <p:xfrm>
          <a:off x="640080" y="1508760"/>
          <a:ext cx="5257800" cy="3931920"/>
        </p:xfrm>
        <a:graphic xmlns:a="http://schemas.openxmlformats.org/drawingml/2006/main">
          <a:graphicData uri="http://schemas.openxmlformats.org/drawingml/2006/chart">
            <c:chart xmlns:c="http://schemas.openxmlformats.org/drawingml/2006/chart" r:id="rId1"/>
          </a:graphicData>
        </a:graphic>
      </p:graphicFrame>
      <p:graphicFrame>
        <p:nvGraphicFramePr>
          <p:cNvPr id="8" name="Chart 1" descr="Replicas over time under autoscaling"/>
          <p:cNvGraphicFramePr/>
          <p:nvPr/>
        </p:nvGraphicFramePr>
        <p:xfrm>
          <a:off x="6291072" y="1508760"/>
          <a:ext cx="5257800" cy="3931920"/>
        </p:xfrm>
        <a:graphic xmlns:a="http://schemas.openxmlformats.org/drawingml/2006/main">
          <a:graphicData uri="http://schemas.openxmlformats.org/drawingml/2006/chart">
            <c:chart xmlns:c="http://schemas.openxmlformats.org/drawingml/2006/chart" r:id="rId2"/>
          </a:graphicData>
        </a:graphic>
      </p:graphicFrame>
      <p:sp>
        <p:nvSpPr>
          <p:cNvPr id="9" name="Takeaway"/>
          <p:cNvSpPr txBox="1"/>
          <p:nvPr/>
        </p:nvSpPr>
        <p:spPr>
          <a:xfrm>
            <a:off x="548640" y="5669280"/>
            <a:ext cx="11091672" cy="594360"/>
          </a:xfrm>
          <a:prstGeom prst="rect">
            <a:avLst/>
          </a:prstGeom>
          <a:noFill/>
          <a:ln/>
        </p:spPr>
        <p:txBody>
          <a:bodyPr wrap="square" lIns="0" tIns="0" rIns="0" bIns="0" rtlCol="0" anchor="ctr"/>
          <a:lstStyle/>
          <a:p>
            <a:pPr algn="l" indent="0" marL="0">
              <a:buNone/>
            </a:pPr>
            <a:r>
              <a:rPr lang="en-US" sz="1800" dirty="0">
                <a:solidFill>
                  <a:schemeClr val="accent4"/>
                </a:solidFill>
              </a:rPr>
              <a:t>Three ready Pods at every moment of the update. Autoscaling went from 3 to 8 replicas in about 60 s, and back with no intervention.</a:t>
            </a:r>
            <a:endParaRPr lang="en-US" sz="18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548640" y="658368"/>
            <a:ext cx="11091672" cy="658368"/>
          </a:xfrm>
          <a:prstGeom prst="rect">
            <a:avLst/>
          </a:prstGeom>
          <a:noFill/>
          <a:ln/>
        </p:spPr>
        <p:txBody>
          <a:bodyPr wrap="square" lIns="0" tIns="0" rIns="0" bIns="0" rtlCol="0" anchor="ctr"/>
          <a:lstStyle/>
          <a:p>
            <a:pPr algn="l" indent="0" marL="0">
              <a:buNone/>
            </a:pPr>
            <a:r>
              <a:rPr lang="en-US" sz="3000" b="1" dirty="0">
                <a:solidFill>
                  <a:schemeClr val="tx1"/>
                </a:solidFill>
              </a:rPr>
              <a:t>Testing failure found what happy paths hide</a:t>
            </a:r>
            <a:endParaRPr lang="en-US" sz="3000" dirty="0"/>
          </a:p>
        </p:txBody>
      </p:sp>
      <p:sp>
        <p:nvSpPr>
          <p:cNvPr id="4" name="Text 0"/>
          <p:cNvSpPr/>
          <p:nvPr>
            <p:ph idx="100" type="body" hasCustomPrompt="1"/>
          </p:nvPr>
        </p:nvSpPr>
        <p:spPr>
          <a:xfrm>
            <a:off x="548640" y="347472"/>
            <a:ext cx="11091672" cy="329184"/>
          </a:xfrm>
          <a:prstGeom prst="rect">
            <a:avLst/>
          </a:prstGeom>
          <a:noFill/>
          <a:ln/>
        </p:spPr>
        <p:txBody>
          <a:bodyPr wrap="square" lIns="0" tIns="0" rIns="0" bIns="0" rtlCol="0" anchor="ctr"/>
          <a:lstStyle/>
          <a:p>
            <a:pPr indent="0" marL="0">
              <a:buNone/>
            </a:pPr>
            <a:r>
              <a:rPr lang="en-US" sz="1400" b="1" spc="100" kern="0" dirty="0">
                <a:solidFill>
                  <a:schemeClr val="accent1"/>
                </a:solidFill>
              </a:rPr>
              <a:t>RESULTS</a:t>
            </a:r>
            <a:endParaRPr lang="en-US" sz="1400" dirty="0"/>
          </a:p>
        </p:txBody>
      </p:sp>
      <p:sp>
        <p:nvSpPr>
          <p:cNvPr id="5" name="Card: Redis outage froze the site"/>
          <p:cNvSpPr/>
          <p:nvPr/>
        </p:nvSpPr>
        <p:spPr>
          <a:xfrm>
            <a:off x="548640" y="1417320"/>
            <a:ext cx="5413248" cy="2240280"/>
          </a:xfrm>
          <a:prstGeom prst="roundRect">
            <a:avLst>
              <a:gd name="adj" fmla="val 3265"/>
            </a:avLst>
          </a:prstGeom>
          <a:solidFill>
            <a:schemeClr val="bg1"/>
          </a:solidFill>
          <a:ln w="9525">
            <a:solidFill>
              <a:schemeClr val="accent6"/>
            </a:solidFill>
          </a:ln>
        </p:spPr>
        <p:txBody>
          <a:bodyPr wrap="square" lIns="203200" tIns="203200" rIns="203200" bIns="203200" rtlCol="0" anchor="ctr"/>
          <a:lstStyle/>
          <a:p>
            <a:pPr algn="l" indent="0" marL="0">
              <a:spcAft>
                <a:spcPts val="800"/>
              </a:spcAft>
              <a:buNone/>
            </a:pPr>
            <a:r>
              <a:rPr lang="en-US" sz="2400" b="1" dirty="0">
                <a:solidFill>
                  <a:schemeClr val="tx1"/>
                </a:solidFill>
              </a:rPr>
              <a:t>Redis outage froze the site</a:t>
            </a:r>
            <a:endParaRPr lang="en-US" sz="2400" dirty="0"/>
          </a:p>
          <a:p>
            <a:pPr algn="l" indent="0" marL="0">
              <a:buNone/>
            </a:pPr>
            <a:r>
              <a:rPr lang="en-US" sz="2000" dirty="0">
                <a:solidFill>
                  <a:schemeClr val="accent4"/>
                </a:solidFill>
              </a:rPr>
              <a:t>Fixed with fail-fast and a PostgreSQL fallback: 8.5 s down to 28 ms.</a:t>
            </a:r>
            <a:endParaRPr lang="en-US" sz="2400" dirty="0"/>
          </a:p>
        </p:txBody>
      </p:sp>
      <p:sp>
        <p:nvSpPr>
          <p:cNvPr id="6" name="Card: Load reached too few Pods"/>
          <p:cNvSpPr/>
          <p:nvPr/>
        </p:nvSpPr>
        <p:spPr>
          <a:xfrm>
            <a:off x="6227064" y="1417320"/>
            <a:ext cx="5413248" cy="2240280"/>
          </a:xfrm>
          <a:prstGeom prst="roundRect">
            <a:avLst>
              <a:gd name="adj" fmla="val 3265"/>
            </a:avLst>
          </a:prstGeom>
          <a:solidFill>
            <a:schemeClr val="bg1"/>
          </a:solidFill>
          <a:ln w="9525">
            <a:solidFill>
              <a:schemeClr val="accent6"/>
            </a:solidFill>
          </a:ln>
        </p:spPr>
        <p:txBody>
          <a:bodyPr wrap="square" lIns="203200" tIns="203200" rIns="203200" bIns="203200" rtlCol="0" anchor="ctr"/>
          <a:lstStyle/>
          <a:p>
            <a:pPr algn="l" indent="0" marL="0">
              <a:spcAft>
                <a:spcPts val="800"/>
              </a:spcAft>
              <a:buNone/>
            </a:pPr>
            <a:r>
              <a:rPr lang="en-US" sz="2400" b="1" dirty="0">
                <a:solidFill>
                  <a:schemeClr val="tx1"/>
                </a:solidFill>
              </a:rPr>
              <a:t>Load reached too few Pods</a:t>
            </a:r>
            <a:endParaRPr lang="en-US" sz="2400" dirty="0"/>
          </a:p>
          <a:p>
            <a:pPr algn="l" indent="0" marL="0">
              <a:buNone/>
            </a:pPr>
            <a:r>
              <a:rPr lang="en-US" sz="2000" dirty="0">
                <a:solidFill>
                  <a:schemeClr val="accent4"/>
                </a:solidFill>
              </a:rPr>
              <a:t>Nginx keeps connections open by default, and a Service balances per connection.</a:t>
            </a:r>
            <a:endParaRPr lang="en-US" sz="2400" dirty="0"/>
          </a:p>
        </p:txBody>
      </p:sp>
      <p:sp>
        <p:nvSpPr>
          <p:cNvPr id="7" name="Card: Liveness restart lost requests"/>
          <p:cNvSpPr/>
          <p:nvPr/>
        </p:nvSpPr>
        <p:spPr>
          <a:xfrm>
            <a:off x="548640" y="3886200"/>
            <a:ext cx="5413248" cy="2240280"/>
          </a:xfrm>
          <a:prstGeom prst="roundRect">
            <a:avLst>
              <a:gd name="adj" fmla="val 3265"/>
            </a:avLst>
          </a:prstGeom>
          <a:solidFill>
            <a:schemeClr val="bg1"/>
          </a:solidFill>
          <a:ln w="9525">
            <a:solidFill>
              <a:schemeClr val="accent6"/>
            </a:solidFill>
          </a:ln>
        </p:spPr>
        <p:txBody>
          <a:bodyPr wrap="square" lIns="203200" tIns="203200" rIns="203200" bIns="203200" rtlCol="0" anchor="ctr"/>
          <a:lstStyle/>
          <a:p>
            <a:pPr algn="l" indent="0" marL="0">
              <a:spcAft>
                <a:spcPts val="800"/>
              </a:spcAft>
              <a:buNone/>
            </a:pPr>
            <a:r>
              <a:rPr lang="en-US" sz="2400" b="1" dirty="0">
                <a:solidFill>
                  <a:schemeClr val="tx1"/>
                </a:solidFill>
              </a:rPr>
              <a:t>Liveness restart lost requests</a:t>
            </a:r>
            <a:endParaRPr lang="en-US" sz="2400" dirty="0"/>
          </a:p>
          <a:p>
            <a:pPr algn="l" indent="0" marL="0">
              <a:buNone/>
            </a:pPr>
            <a:r>
              <a:rPr lang="en-US" sz="2000" dirty="0">
                <a:solidFill>
                  <a:schemeClr val="accent4"/>
                </a:solidFill>
              </a:rPr>
              <a:t>Readiness now fails first, so traffic leaves the Pod early.</a:t>
            </a:r>
            <a:endParaRPr lang="en-US" sz="2400" dirty="0"/>
          </a:p>
        </p:txBody>
      </p:sp>
      <p:sp>
        <p:nvSpPr>
          <p:cNvPr id="8" name="Card: Worker could reach the Internet"/>
          <p:cNvSpPr/>
          <p:nvPr/>
        </p:nvSpPr>
        <p:spPr>
          <a:xfrm>
            <a:off x="6227064" y="3886200"/>
            <a:ext cx="5413248" cy="2240280"/>
          </a:xfrm>
          <a:prstGeom prst="roundRect">
            <a:avLst>
              <a:gd name="adj" fmla="val 3265"/>
            </a:avLst>
          </a:prstGeom>
          <a:solidFill>
            <a:schemeClr val="bg1"/>
          </a:solidFill>
          <a:ln w="9525">
            <a:solidFill>
              <a:schemeClr val="accent6"/>
            </a:solidFill>
          </a:ln>
        </p:spPr>
        <p:txBody>
          <a:bodyPr wrap="square" lIns="203200" tIns="203200" rIns="203200" bIns="203200" rtlCol="0" anchor="ctr"/>
          <a:lstStyle/>
          <a:p>
            <a:pPr algn="l" indent="0" marL="0">
              <a:spcAft>
                <a:spcPts val="800"/>
              </a:spcAft>
              <a:buNone/>
            </a:pPr>
            <a:r>
              <a:rPr lang="en-US" sz="2400" b="1" dirty="0">
                <a:solidFill>
                  <a:schemeClr val="tx1"/>
                </a:solidFill>
              </a:rPr>
              <a:t>Worker could reach the Internet</a:t>
            </a:r>
            <a:endParaRPr lang="en-US" sz="2400" dirty="0"/>
          </a:p>
          <a:p>
            <a:pPr algn="l" indent="0" marL="0">
              <a:buNone/>
            </a:pPr>
            <a:r>
              <a:rPr lang="en-US" sz="2000" dirty="0">
                <a:solidFill>
                  <a:schemeClr val="accent4"/>
                </a:solidFill>
              </a:rPr>
              <a:t>Found by measuring every network path, then closed.</a:t>
            </a:r>
            <a:endParaRPr lang="en-US" sz="24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548640" y="658368"/>
            <a:ext cx="11091672" cy="658368"/>
          </a:xfrm>
          <a:prstGeom prst="rect">
            <a:avLst/>
          </a:prstGeom>
          <a:noFill/>
          <a:ln/>
        </p:spPr>
        <p:txBody>
          <a:bodyPr wrap="square" lIns="0" tIns="0" rIns="0" bIns="0" rtlCol="0" anchor="ctr"/>
          <a:lstStyle/>
          <a:p>
            <a:pPr algn="l" indent="0" marL="0">
              <a:buNone/>
            </a:pPr>
            <a:r>
              <a:rPr lang="en-US" sz="3000" b="1" dirty="0">
                <a:solidFill>
                  <a:schemeClr val="tx1"/>
                </a:solidFill>
              </a:rPr>
              <a:t>Containers deliver, if the application cooperates</a:t>
            </a:r>
            <a:endParaRPr lang="en-US" sz="3000" dirty="0"/>
          </a:p>
        </p:txBody>
      </p:sp>
      <p:sp>
        <p:nvSpPr>
          <p:cNvPr id="4" name="Text 0"/>
          <p:cNvSpPr/>
          <p:nvPr>
            <p:ph idx="100" type="body" hasCustomPrompt="1"/>
          </p:nvPr>
        </p:nvSpPr>
        <p:spPr>
          <a:xfrm>
            <a:off x="548640" y="347472"/>
            <a:ext cx="11091672" cy="329184"/>
          </a:xfrm>
          <a:prstGeom prst="rect">
            <a:avLst/>
          </a:prstGeom>
          <a:noFill/>
          <a:ln/>
        </p:spPr>
        <p:txBody>
          <a:bodyPr wrap="square" lIns="0" tIns="0" rIns="0" bIns="0" rtlCol="0" anchor="ctr"/>
          <a:lstStyle/>
          <a:p>
            <a:pPr indent="0" marL="0">
              <a:buNone/>
            </a:pPr>
            <a:r>
              <a:rPr lang="en-US" sz="1400" b="1" spc="100" kern="0" dirty="0">
                <a:solidFill>
                  <a:schemeClr val="accent1"/>
                </a:solidFill>
              </a:rPr>
              <a:t>CONCLUSION</a:t>
            </a:r>
            <a:endParaRPr lang="en-US" sz="1400" dirty="0"/>
          </a:p>
        </p:txBody>
      </p:sp>
      <p:sp>
        <p:nvSpPr>
          <p:cNvPr id="5" name="Card: Portability"/>
          <p:cNvSpPr/>
          <p:nvPr/>
        </p:nvSpPr>
        <p:spPr>
          <a:xfrm>
            <a:off x="548640" y="1417320"/>
            <a:ext cx="3575304" cy="2834640"/>
          </a:xfrm>
          <a:prstGeom prst="roundRect">
            <a:avLst>
              <a:gd name="adj" fmla="val 2581"/>
            </a:avLst>
          </a:prstGeom>
          <a:solidFill>
            <a:schemeClr val="bg1"/>
          </a:solidFill>
          <a:ln w="9525">
            <a:solidFill>
              <a:schemeClr val="accent6"/>
            </a:solidFill>
          </a:ln>
        </p:spPr>
        <p:txBody>
          <a:bodyPr wrap="square" lIns="203200" tIns="203200" rIns="203200" bIns="203200" rtlCol="0" anchor="ctr"/>
          <a:lstStyle/>
          <a:p>
            <a:pPr algn="l" indent="0" marL="0">
              <a:spcAft>
                <a:spcPts val="800"/>
              </a:spcAft>
              <a:buNone/>
            </a:pPr>
            <a:r>
              <a:rPr lang="en-US" sz="2400" b="1" dirty="0">
                <a:solidFill>
                  <a:schemeClr val="tx1"/>
                </a:solidFill>
              </a:rPr>
              <a:t>Portability</a:t>
            </a:r>
            <a:endParaRPr lang="en-US" sz="2400" dirty="0"/>
          </a:p>
          <a:p>
            <a:pPr algn="l" indent="0" marL="0">
              <a:buNone/>
            </a:pPr>
            <a:r>
              <a:rPr lang="en-US" sz="2000" dirty="0">
                <a:solidFill>
                  <a:schemeClr val="accent4"/>
                </a:solidFill>
              </a:rPr>
              <a:t>The same images passed the same 24 tests on both platforms.</a:t>
            </a:r>
            <a:endParaRPr lang="en-US" sz="2400" dirty="0"/>
          </a:p>
        </p:txBody>
      </p:sp>
      <p:sp>
        <p:nvSpPr>
          <p:cNvPr id="6" name="Card: Efficiency"/>
          <p:cNvSpPr/>
          <p:nvPr/>
        </p:nvSpPr>
        <p:spPr>
          <a:xfrm>
            <a:off x="4306824" y="1417320"/>
            <a:ext cx="3575304" cy="2834640"/>
          </a:xfrm>
          <a:prstGeom prst="roundRect">
            <a:avLst>
              <a:gd name="adj" fmla="val 2581"/>
            </a:avLst>
          </a:prstGeom>
          <a:solidFill>
            <a:schemeClr val="bg1"/>
          </a:solidFill>
          <a:ln w="9525">
            <a:solidFill>
              <a:schemeClr val="accent6"/>
            </a:solidFill>
          </a:ln>
        </p:spPr>
        <p:txBody>
          <a:bodyPr wrap="square" lIns="203200" tIns="203200" rIns="203200" bIns="203200" rtlCol="0" anchor="ctr"/>
          <a:lstStyle/>
          <a:p>
            <a:pPr algn="l" indent="0" marL="0">
              <a:spcAft>
                <a:spcPts val="800"/>
              </a:spcAft>
              <a:buNone/>
            </a:pPr>
            <a:r>
              <a:rPr lang="en-US" sz="2400" b="1" dirty="0">
                <a:solidFill>
                  <a:schemeClr val="tx1"/>
                </a:solidFill>
              </a:rPr>
              <a:t>Efficiency</a:t>
            </a:r>
            <a:endParaRPr lang="en-US" sz="2400" dirty="0"/>
          </a:p>
          <a:p>
            <a:pPr algn="l" indent="0" marL="0">
              <a:buNone/>
            </a:pPr>
            <a:r>
              <a:rPr lang="en-US" sz="2000" dirty="0">
                <a:solidFill>
                  <a:schemeClr val="accent4"/>
                </a:solidFill>
              </a:rPr>
              <a:t>6 times smaller images, about 227 MB for nine containers.</a:t>
            </a:r>
            <a:endParaRPr lang="en-US" sz="2400" dirty="0"/>
          </a:p>
        </p:txBody>
      </p:sp>
      <p:sp>
        <p:nvSpPr>
          <p:cNvPr id="7" name="Card: Scalability"/>
          <p:cNvSpPr/>
          <p:nvPr/>
        </p:nvSpPr>
        <p:spPr>
          <a:xfrm>
            <a:off x="8065008" y="1417320"/>
            <a:ext cx="3575304" cy="2834640"/>
          </a:xfrm>
          <a:prstGeom prst="roundRect">
            <a:avLst>
              <a:gd name="adj" fmla="val 2581"/>
            </a:avLst>
          </a:prstGeom>
          <a:solidFill>
            <a:schemeClr val="bg1"/>
          </a:solidFill>
          <a:ln w="9525">
            <a:solidFill>
              <a:schemeClr val="accent6"/>
            </a:solidFill>
          </a:ln>
        </p:spPr>
        <p:txBody>
          <a:bodyPr wrap="square" lIns="203200" tIns="203200" rIns="203200" bIns="203200" rtlCol="0" anchor="ctr"/>
          <a:lstStyle/>
          <a:p>
            <a:pPr algn="l" indent="0" marL="0">
              <a:spcAft>
                <a:spcPts val="800"/>
              </a:spcAft>
              <a:buNone/>
            </a:pPr>
            <a:r>
              <a:rPr lang="en-US" sz="2400" b="1" dirty="0">
                <a:solidFill>
                  <a:schemeClr val="tx1"/>
                </a:solidFill>
              </a:rPr>
              <a:t>Scalability</a:t>
            </a:r>
            <a:endParaRPr lang="en-US" sz="2400" dirty="0"/>
          </a:p>
          <a:p>
            <a:pPr algn="l" indent="0" marL="0">
              <a:buNone/>
            </a:pPr>
            <a:r>
              <a:rPr lang="en-US" sz="2000" dirty="0">
                <a:solidFill>
                  <a:schemeClr val="accent4"/>
                </a:solidFill>
              </a:rPr>
              <a:t>4.8 times the throughput, with zero-downtime updates.</a:t>
            </a:r>
            <a:endParaRPr lang="en-US" sz="2400" dirty="0"/>
          </a:p>
        </p:txBody>
      </p:sp>
      <p:sp>
        <p:nvSpPr>
          <p:cNvPr id="8" name="Takeaway"/>
          <p:cNvSpPr txBox="1"/>
          <p:nvPr/>
        </p:nvSpPr>
        <p:spPr>
          <a:xfrm>
            <a:off x="548640" y="4526280"/>
            <a:ext cx="11091672" cy="594360"/>
          </a:xfrm>
          <a:prstGeom prst="rect">
            <a:avLst/>
          </a:prstGeom>
          <a:noFill/>
          <a:ln/>
        </p:spPr>
        <p:txBody>
          <a:bodyPr wrap="square" lIns="0" tIns="0" rIns="0" bIns="0" rtlCol="0" anchor="ctr"/>
          <a:lstStyle/>
          <a:p>
            <a:pPr algn="l" indent="0" marL="0">
              <a:buNone/>
            </a:pPr>
            <a:r>
              <a:rPr lang="en-US" sz="1800" dirty="0">
                <a:solidFill>
                  <a:schemeClr val="accent4"/>
                </a:solidFill>
              </a:rPr>
              <a:t>Next: replicated databases, HTTPS at the edge, and a real cloud cluster.</a:t>
            </a:r>
            <a:endParaRPr lang="en-US" sz="18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title" hasCustomPrompt="1"/>
          </p:nvPr>
        </p:nvSpPr>
        <p:spPr>
          <a:xfrm>
            <a:off x="548640" y="1280160"/>
            <a:ext cx="11091672" cy="1920240"/>
          </a:xfrm>
          <a:prstGeom prst="rect">
            <a:avLst/>
          </a:prstGeom>
          <a:noFill/>
          <a:ln/>
        </p:spPr>
        <p:txBody>
          <a:bodyPr wrap="square" lIns="0" tIns="0" rIns="0" bIns="0" rtlCol="0" anchor="t"/>
          <a:lstStyle/>
          <a:p>
            <a:pPr algn="l" indent="0" marL="0">
              <a:buNone/>
            </a:pPr>
            <a:r>
              <a:rPr lang="en-US" sz="4800" b="1" dirty="0">
                <a:solidFill>
                  <a:schemeClr val="bg1"/>
                </a:solidFill>
              </a:rPr>
              <a:t>Thank you</a:t>
            </a:r>
            <a:endParaRPr lang="en-US" sz="4800" dirty="0"/>
          </a:p>
        </p:txBody>
      </p:sp>
      <p:sp>
        <p:nvSpPr>
          <p:cNvPr id="4" name="Closing line"/>
          <p:cNvSpPr txBox="1"/>
          <p:nvPr/>
        </p:nvSpPr>
        <p:spPr>
          <a:xfrm>
            <a:off x="548640" y="2286000"/>
            <a:ext cx="11091672" cy="640080"/>
          </a:xfrm>
          <a:prstGeom prst="rect">
            <a:avLst/>
          </a:prstGeom>
          <a:noFill/>
          <a:ln/>
        </p:spPr>
        <p:txBody>
          <a:bodyPr wrap="square" lIns="0" tIns="0" rIns="0" bIns="0" rtlCol="0" anchor="ctr"/>
          <a:lstStyle/>
          <a:p>
            <a:pPr algn="l" indent="0" marL="0">
              <a:buNone/>
            </a:pPr>
            <a:r>
              <a:rPr lang="en-US" sz="2400" dirty="0">
                <a:solidFill>
                  <a:schemeClr val="accent6"/>
                </a:solidFill>
              </a:rPr>
              <a:t>Questions are welcome.</a:t>
            </a:r>
            <a:endParaRPr lang="en-US" sz="2400" dirty="0"/>
          </a:p>
        </p:txBody>
      </p:sp>
      <p:sp>
        <p:nvSpPr>
          <p:cNvPr id="5" name="Text 0"/>
          <p:cNvSpPr/>
          <p:nvPr>
            <p:ph idx="100" type="body" hasCustomPrompt="1"/>
          </p:nvPr>
        </p:nvSpPr>
        <p:spPr>
          <a:xfrm>
            <a:off x="548640" y="822960"/>
            <a:ext cx="11091672" cy="365760"/>
          </a:xfrm>
          <a:prstGeom prst="rect">
            <a:avLst/>
          </a:prstGeom>
          <a:noFill/>
          <a:ln/>
        </p:spPr>
        <p:txBody>
          <a:bodyPr wrap="square" lIns="0" tIns="0" rIns="0" bIns="0" rtlCol="0" anchor="ctr"/>
          <a:lstStyle/>
          <a:p>
            <a:pPr indent="0" marL="0">
              <a:buNone/>
            </a:pPr>
            <a:endParaRPr lang="en-US" sz="1400" dirty="0"/>
          </a:p>
        </p:txBody>
      </p:sp>
    </p:spTree>
  </p:cSld>
  <p:clrMapOvr>
    <a:masterClrMapping/>
  </p:clrMapOvr>
</p:sld>
</file>

<file path=ppt/theme/theme1.xml><?xml version="1.0" encoding="utf-8"?>
<a:theme xmlns:a="http://schemas.openxmlformats.org/drawingml/2006/main" name="DockMart">
  <a:themeElements>
    <a:clrScheme name="DockMart">
      <a:dk1>
        <a:srgbClr val="12222E"/>
      </a:dk1>
      <a:lt1>
        <a:srgbClr val="FFFFFF"/>
      </a:lt1>
      <a:dk2>
        <a:srgbClr val="0F1C26"/>
      </a:dk2>
      <a:lt2>
        <a:srgbClr val="F5F8FA"/>
      </a:lt2>
      <a:accent1>
        <a:srgbClr val="0B6E99"/>
      </a:accent1>
      <a:accent2>
        <a:srgbClr val="EB6834"/>
      </a:accent2>
      <a:accent3>
        <a:srgbClr val="1BAF7A"/>
      </a:accent3>
      <a:accent4>
        <a:srgbClr val="46596A"/>
      </a:accent4>
      <a:accent5>
        <a:srgbClr val="6FD0F5"/>
      </a:accent5>
      <a:accent6>
        <a:srgbClr val="D5DEE4"/>
      </a:accent6>
      <a:hlink>
        <a:srgbClr val="0B6E99"/>
      </a:hlink>
      <a:folHlink>
        <a:srgbClr val="46596A"/>
      </a:folHlink>
    </a:clrScheme>
    <a:fontScheme name="DockMar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Ton Duc Thang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Containers in Web Development and Deployment (Docker)</dc:title>
  <dc:subject>Midterm essay, course 503073</dc:subject>
  <dc:creator>Tran Trung Hieu, Nguyen Duc Nhat Huy</dc:creator>
  <cp:lastModifiedBy>Tran Trung Hieu, Nguyen Duc Nhat Huy</cp:lastModifiedBy>
  <cp:revision>1</cp:revision>
  <dcterms:created xsi:type="dcterms:W3CDTF">2026-10-30T18:58:05Z</dcterms:created>
  <dcterms:modified xsi:type="dcterms:W3CDTF">2026-10-30T18:58:05Z</dcterms:modified>
</cp:coreProperties>
</file>